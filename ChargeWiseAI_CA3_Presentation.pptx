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332720" cy="4572000"/>
          </a:xfrm>
          <a:prstGeom prst="rect">
            <a:avLst/>
          </a:prstGeom>
          <a:noFill/>
        </p:spPr>
        <p:txBody>
          <a:bodyPr wrap="square">
            <a:spAutoFit/>
          </a:bodyPr>
          <a:lstStyle/>
          <a:p>
            <a:pPr>
              <a:spcAft>
                <a:spcPts val="600"/>
              </a:spcAft>
              <a:defRPr sz="4600" b="1">
                <a:solidFill>
                  <a:srgbClr val="10B981"/>
                </a:solidFill>
              </a:defRPr>
            </a:pPr>
            <a:r>
              <a:t>⚡ ChargeWise AI</a:t>
            </a:r>
          </a:p>
          <a:p>
            <a:pPr>
              <a:spcAft>
                <a:spcPts val="1600"/>
              </a:spcAft>
              <a:defRPr sz="2100">
                <a:solidFill>
                  <a:srgbClr val="F8FAFC"/>
                </a:solidFill>
              </a:defRPr>
            </a:pPr>
            <a:r>
              <a:t>Domain-Specific Agentic AI for Intelligent Commercial EV Charging Management</a:t>
            </a:r>
          </a:p>
          <a:p>
            <a:pPr>
              <a:spcAft>
                <a:spcPts val="2000"/>
              </a:spcAft>
              <a:defRPr sz="1400" b="1">
                <a:solidFill>
                  <a:srgbClr val="38BDF8"/>
                </a:solidFill>
              </a:defRPr>
            </a:pPr>
            <a:r>
              <a:t>CA-3 Proof of Concept Presentation · Autonomous Orchestration, Reflection &amp; Validation</a:t>
            </a:r>
          </a:p>
          <a:p>
            <a:pPr>
              <a:defRPr sz="1200">
                <a:solidFill>
                  <a:srgbClr val="94A3B8"/>
                </a:solidFill>
              </a:defRPr>
            </a:pPr>
            <a:r>
              <a:t>• Domain: Smart Mobility, Clean Energy &amp; Commercial Fleet Operations (Business Operations)</a:t>
            </a:r>
            <a:br/>
            <a:r>
              <a:t>• Team: [Student 1 Name &amp; Roll No] | [Student 2 Name &amp; Roll No]</a:t>
            </a:r>
            <a:br/>
            <a:r>
              <a:t>• Technology Stack: Python 3.12, Streamlit, LangChain, Ollama (llama3.2:3b) + Offline Mock Engine</a:t>
            </a:r>
            <a:br/>
            <a:r>
              <a:t>• Cost Guarantee: 100% Free &amp; Open-Source · Zero Paid API Keys or Cloud Subscriptions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10728655"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728655" cy="320040"/>
          </a:xfrm>
          <a:prstGeom prst="rect">
            <a:avLst/>
          </a:prstGeom>
          <a:noFill/>
        </p:spPr>
        <p:txBody>
          <a:bodyPr wrap="square">
            <a:spAutoFit/>
          </a:bodyPr>
          <a:lstStyle/>
          <a:p>
            <a:pPr>
              <a:defRPr sz="1000" b="1">
                <a:solidFill>
                  <a:srgbClr val="10B981"/>
                </a:solidFill>
              </a:defRPr>
            </a:pPr>
            <a:r>
              <a:t>INDUSTRY CONTEXT &amp; INEFFICIENCY</a:t>
            </a:r>
          </a:p>
        </p:txBody>
      </p:sp>
      <p:sp>
        <p:nvSpPr>
          <p:cNvPr id="5" name="TextBox 4"/>
          <p:cNvSpPr txBox="1"/>
          <p:nvPr/>
        </p:nvSpPr>
        <p:spPr>
          <a:xfrm>
            <a:off x="731520" y="777240"/>
            <a:ext cx="10728655" cy="685800"/>
          </a:xfrm>
          <a:prstGeom prst="rect">
            <a:avLst/>
          </a:prstGeom>
          <a:noFill/>
        </p:spPr>
        <p:txBody>
          <a:bodyPr wrap="square">
            <a:spAutoFit/>
          </a:bodyPr>
          <a:lstStyle/>
          <a:p>
            <a:pPr>
              <a:defRPr sz="2200" b="1">
                <a:solidFill>
                  <a:srgbClr val="F8FAFC"/>
                </a:solidFill>
              </a:defRPr>
            </a:pPr>
            <a:r>
              <a:t>Domain Justification &amp; Real-World Business Challenge</a:t>
            </a:r>
          </a:p>
        </p:txBody>
      </p:sp>
      <p:sp>
        <p:nvSpPr>
          <p:cNvPr id="6" name="Rounded Rectangle 5"/>
          <p:cNvSpPr/>
          <p:nvPr/>
        </p:nvSpPr>
        <p:spPr>
          <a:xfrm>
            <a:off x="731520" y="1554480"/>
            <a:ext cx="5212080" cy="39319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91639"/>
            <a:ext cx="4846320" cy="3657600"/>
          </a:xfrm>
          <a:prstGeom prst="rect">
            <a:avLst/>
          </a:prstGeom>
          <a:noFill/>
        </p:spPr>
        <p:txBody>
          <a:bodyPr wrap="square">
            <a:spAutoFit/>
          </a:bodyPr>
          <a:lstStyle/>
          <a:p>
            <a:pPr>
              <a:spcAft>
                <a:spcPts val="600"/>
              </a:spcAft>
              <a:defRPr sz="1400" b="1">
                <a:solidFill>
                  <a:srgbClr val="38BDF8"/>
                </a:solidFill>
              </a:defRPr>
            </a:pPr>
            <a:r>
              <a:t>The Commercial Fleet Hub Domain</a:t>
            </a:r>
          </a:p>
          <a:p>
            <a:pPr>
              <a:spcAft>
                <a:spcPts val="350"/>
              </a:spcAft>
              <a:defRPr sz="1050">
                <a:solidFill>
                  <a:srgbClr val="F8FAFC"/>
                </a:solidFill>
              </a:defRPr>
            </a:pPr>
            <a:r>
              <a:t>• Rapid transition of logistics (Amazon/FedEx), taxis, and public transit to Electric Vehicles.</a:t>
            </a:r>
          </a:p>
          <a:p>
            <a:pPr>
              <a:spcAft>
                <a:spcPts val="350"/>
              </a:spcAft>
              <a:defRPr sz="1050">
                <a:solidFill>
                  <a:srgbClr val="F8FAFC"/>
                </a:solidFill>
              </a:defRPr>
            </a:pPr>
            <a:r>
              <a:t>• Charging depots have fixed physical transformer limits (e.g. 4 fast chargers, max total kW).</a:t>
            </a:r>
          </a:p>
          <a:p>
            <a:pPr>
              <a:spcAft>
                <a:spcPts val="350"/>
              </a:spcAft>
              <a:defRPr sz="1050">
                <a:solidFill>
                  <a:srgbClr val="F8FAFC"/>
                </a:solidFill>
              </a:defRPr>
            </a:pPr>
            <a:r>
              <a:t>• Utility grids enforce Time-of-Use (ToU) dynamic tariffs: peak hours cost almost 2x off-peak.</a:t>
            </a:r>
          </a:p>
          <a:p>
            <a:pPr>
              <a:spcAft>
                <a:spcPts val="350"/>
              </a:spcAft>
              <a:defRPr sz="1050">
                <a:solidFill>
                  <a:srgbClr val="F8FAFC"/>
                </a:solidFill>
              </a:defRPr>
            </a:pPr>
            <a:r>
              <a:t>• High-stakes operations: Commercial vehicles have strict delivery and route departure deadlines.</a:t>
            </a:r>
          </a:p>
        </p:txBody>
      </p:sp>
      <p:sp>
        <p:nvSpPr>
          <p:cNvPr id="8" name="Rounded Rectangle 7"/>
          <p:cNvSpPr/>
          <p:nvPr/>
        </p:nvSpPr>
        <p:spPr>
          <a:xfrm>
            <a:off x="6217920" y="1554480"/>
            <a:ext cx="5212080" cy="3931920"/>
          </a:xfrm>
          <a:prstGeom prst="roundRect">
            <a:avLst/>
          </a:prstGeom>
          <a:solidFill>
            <a:srgbClr val="1E293B"/>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91639"/>
            <a:ext cx="4846320" cy="3657600"/>
          </a:xfrm>
          <a:prstGeom prst="rect">
            <a:avLst/>
          </a:prstGeom>
          <a:noFill/>
        </p:spPr>
        <p:txBody>
          <a:bodyPr wrap="square">
            <a:spAutoFit/>
          </a:bodyPr>
          <a:lstStyle/>
          <a:p>
            <a:pPr>
              <a:spcAft>
                <a:spcPts val="600"/>
              </a:spcAft>
              <a:defRPr sz="1400" b="1">
                <a:solidFill>
                  <a:srgbClr val="F43F5E"/>
                </a:solidFill>
              </a:defRPr>
            </a:pPr>
            <a:r>
              <a:t>The Severe Inefficiency of Traditional FCFS</a:t>
            </a:r>
          </a:p>
          <a:p>
            <a:pPr>
              <a:spcAft>
                <a:spcPts val="350"/>
              </a:spcAft>
              <a:defRPr sz="1050">
                <a:solidFill>
                  <a:srgbClr val="F8FAFC"/>
                </a:solidFill>
              </a:defRPr>
            </a:pPr>
            <a:r>
              <a:t>• Uncoordinated First-Come-First-Serve (FCFS) starts charging as soon as any EV plugs in.</a:t>
            </a:r>
          </a:p>
          <a:p>
            <a:pPr>
              <a:spcAft>
                <a:spcPts val="350"/>
              </a:spcAft>
              <a:defRPr sz="1050">
                <a:solidFill>
                  <a:srgbClr val="F8FAFC"/>
                </a:solidFill>
              </a:defRPr>
            </a:pPr>
            <a:r>
              <a:t>• Causes severe peak demand spikes, triggering massive utility demand charges and transformer trips.</a:t>
            </a:r>
          </a:p>
          <a:p>
            <a:pPr>
              <a:spcAft>
                <a:spcPts val="350"/>
              </a:spcAft>
              <a:defRPr sz="1050">
                <a:solidFill>
                  <a:srgbClr val="F8FAFC"/>
                </a:solidFill>
              </a:defRPr>
            </a:pPr>
            <a:r>
              <a:t>• High-cost charging: Fleets charge during peak rate slots (₹11.00/kWh) instead of off-peak (₹6.80/kWh).</a:t>
            </a:r>
          </a:p>
          <a:p>
            <a:pPr>
              <a:spcAft>
                <a:spcPts val="350"/>
              </a:spcAft>
              <a:defRPr sz="1050">
                <a:solidFill>
                  <a:srgbClr val="F8FAFC"/>
                </a:solidFill>
              </a:defRPr>
            </a:pPr>
            <a:r>
              <a:t>• Contention: An EV with 70% battery hogs a fast charger while a critical 10% delivery van waits and departs undercharged.</a:t>
            </a:r>
          </a:p>
        </p:txBody>
      </p:sp>
      <p:sp>
        <p:nvSpPr>
          <p:cNvPr id="10" name="Rounded Rectangle 9"/>
          <p:cNvSpPr/>
          <p:nvPr/>
        </p:nvSpPr>
        <p:spPr>
          <a:xfrm>
            <a:off x="731520" y="5577840"/>
            <a:ext cx="10698480" cy="868680"/>
          </a:xfrm>
          <a:prstGeom prst="roundRect">
            <a:avLst/>
          </a:prstGeom>
          <a:solidFill>
            <a:srgbClr val="18202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650992"/>
            <a:ext cx="10424159" cy="722375"/>
          </a:xfrm>
          <a:prstGeom prst="rect">
            <a:avLst/>
          </a:prstGeom>
          <a:noFill/>
        </p:spPr>
        <p:txBody>
          <a:bodyPr wrap="square">
            <a:spAutoFit/>
          </a:bodyPr>
          <a:lstStyle/>
          <a:p>
            <a:pPr>
              <a:spcAft>
                <a:spcPts val="200"/>
              </a:spcAft>
              <a:defRPr sz="1100" b="1">
                <a:solidFill>
                  <a:srgbClr val="F59E0B"/>
                </a:solidFill>
              </a:defRPr>
            </a:pPr>
            <a:r>
              <a:t>💡 Core Justification for Agentic AI (Teacher Defense)</a:t>
            </a:r>
          </a:p>
          <a:p>
            <a:pPr>
              <a:defRPr sz="950">
                <a:solidFill>
                  <a:srgbClr val="F8FAFC"/>
                </a:solidFill>
              </a:defRPr>
            </a:pPr>
            <a:r>
              <a:t>Why Agentic AI? A static rule script cannot dynamically re-prioritize conflicting vehicles, evaluate multi-objective tariff trade-offs, or autonomously recover when assignments violate physical grid constraints.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10728655"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728655" cy="320040"/>
          </a:xfrm>
          <a:prstGeom prst="rect">
            <a:avLst/>
          </a:prstGeom>
          <a:noFill/>
        </p:spPr>
        <p:txBody>
          <a:bodyPr wrap="square">
            <a:spAutoFit/>
          </a:bodyPr>
          <a:lstStyle/>
          <a:p>
            <a:pPr>
              <a:defRPr sz="1000" b="1">
                <a:solidFill>
                  <a:srgbClr val="10B981"/>
                </a:solidFill>
              </a:defRPr>
            </a:pPr>
            <a:r>
              <a:t>PROCESS TRANSFORMATION</a:t>
            </a:r>
          </a:p>
        </p:txBody>
      </p:sp>
      <p:sp>
        <p:nvSpPr>
          <p:cNvPr id="5" name="TextBox 4"/>
          <p:cNvSpPr txBox="1"/>
          <p:nvPr/>
        </p:nvSpPr>
        <p:spPr>
          <a:xfrm>
            <a:off x="731520" y="777240"/>
            <a:ext cx="10728655" cy="685800"/>
          </a:xfrm>
          <a:prstGeom prst="rect">
            <a:avLst/>
          </a:prstGeom>
          <a:noFill/>
        </p:spPr>
        <p:txBody>
          <a:bodyPr wrap="square">
            <a:spAutoFit/>
          </a:bodyPr>
          <a:lstStyle/>
          <a:p>
            <a:pPr>
              <a:defRPr sz="2200" b="1">
                <a:solidFill>
                  <a:srgbClr val="F8FAFC"/>
                </a:solidFill>
              </a:defRPr>
            </a:pPr>
            <a:r>
              <a:t>Existing Business Process vs. Proposed Agentic Solution</a:t>
            </a:r>
          </a:p>
        </p:txBody>
      </p:sp>
      <p:sp>
        <p:nvSpPr>
          <p:cNvPr id="6" name="Rounded Rectangle 5"/>
          <p:cNvSpPr/>
          <p:nvPr/>
        </p:nvSpPr>
        <p:spPr>
          <a:xfrm>
            <a:off x="731520" y="1554480"/>
            <a:ext cx="3383280" cy="39319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91639"/>
            <a:ext cx="3017520" cy="3657600"/>
          </a:xfrm>
          <a:prstGeom prst="rect">
            <a:avLst/>
          </a:prstGeom>
          <a:noFill/>
        </p:spPr>
        <p:txBody>
          <a:bodyPr wrap="square">
            <a:spAutoFit/>
          </a:bodyPr>
          <a:lstStyle/>
          <a:p>
            <a:pPr>
              <a:spcAft>
                <a:spcPts val="600"/>
              </a:spcAft>
              <a:defRPr sz="1400" b="1">
                <a:solidFill>
                  <a:srgbClr val="94A3B8"/>
                </a:solidFill>
              </a:defRPr>
            </a:pPr>
            <a:r>
              <a:t>Traditional FCFS Approach</a:t>
            </a:r>
          </a:p>
          <a:p>
            <a:pPr>
              <a:spcAft>
                <a:spcPts val="350"/>
              </a:spcAft>
              <a:defRPr sz="1050">
                <a:solidFill>
                  <a:srgbClr val="F8FAFC"/>
                </a:solidFill>
              </a:defRPr>
            </a:pPr>
            <a:r>
              <a:t>• Scheduling Logic: Blind First-In-First-Out (FIFO) queue.</a:t>
            </a:r>
          </a:p>
          <a:p>
            <a:pPr>
              <a:spcAft>
                <a:spcPts val="350"/>
              </a:spcAft>
              <a:defRPr sz="1050">
                <a:solidFill>
                  <a:srgbClr val="F8FAFC"/>
                </a:solidFill>
              </a:defRPr>
            </a:pPr>
            <a:r>
              <a:t>• Tariff Awareness: Price-blind; charges immediately during expensive peak hours.</a:t>
            </a:r>
          </a:p>
          <a:p>
            <a:pPr>
              <a:spcAft>
                <a:spcPts val="350"/>
              </a:spcAft>
              <a:defRPr sz="1050">
                <a:solidFill>
                  <a:srgbClr val="F8FAFC"/>
                </a:solidFill>
              </a:defRPr>
            </a:pPr>
            <a:r>
              <a:t>• Urgency Handling: Treats 10% battery emergency same as 75% leisure vehicle.</a:t>
            </a:r>
          </a:p>
          <a:p>
            <a:pPr>
              <a:spcAft>
                <a:spcPts val="350"/>
              </a:spcAft>
              <a:defRPr sz="1050">
                <a:solidFill>
                  <a:srgbClr val="F8FAFC"/>
                </a:solidFill>
              </a:defRPr>
            </a:pPr>
            <a:r>
              <a:t>• Conflict Handling: System halts or causes electrical breaker trips.</a:t>
            </a:r>
          </a:p>
          <a:p>
            <a:pPr>
              <a:spcAft>
                <a:spcPts val="350"/>
              </a:spcAft>
              <a:defRPr sz="1050">
                <a:solidFill>
                  <a:srgbClr val="F8FAFC"/>
                </a:solidFill>
              </a:defRPr>
            </a:pPr>
            <a:r>
              <a:t>• Self-Healing: None. Requires manual human dispatcher intervention.</a:t>
            </a:r>
          </a:p>
          <a:p>
            <a:pPr>
              <a:spcAft>
                <a:spcPts val="350"/>
              </a:spcAft>
              <a:defRPr sz="1050">
                <a:solidFill>
                  <a:srgbClr val="F8FAFC"/>
                </a:solidFill>
              </a:defRPr>
            </a:pPr>
            <a:r>
              <a:t>• Operating Cost: Up to 35% higher electricity bills due to peak demand charges.</a:t>
            </a:r>
          </a:p>
        </p:txBody>
      </p:sp>
      <p:sp>
        <p:nvSpPr>
          <p:cNvPr id="8" name="Rounded Rectangle 7"/>
          <p:cNvSpPr/>
          <p:nvPr/>
        </p:nvSpPr>
        <p:spPr>
          <a:xfrm>
            <a:off x="4389120" y="1554480"/>
            <a:ext cx="3383280" cy="39319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691639"/>
            <a:ext cx="3017520" cy="3657600"/>
          </a:xfrm>
          <a:prstGeom prst="rect">
            <a:avLst/>
          </a:prstGeom>
          <a:noFill/>
        </p:spPr>
        <p:txBody>
          <a:bodyPr wrap="square">
            <a:spAutoFit/>
          </a:bodyPr>
          <a:lstStyle/>
          <a:p>
            <a:pPr>
              <a:spcAft>
                <a:spcPts val="600"/>
              </a:spcAft>
              <a:defRPr sz="1400" b="1">
                <a:solidFill>
                  <a:srgbClr val="10B981"/>
                </a:solidFill>
              </a:defRPr>
            </a:pPr>
            <a:r>
              <a:t>ChargeWise Agentic Solution</a:t>
            </a:r>
          </a:p>
          <a:p>
            <a:pPr>
              <a:spcAft>
                <a:spcPts val="350"/>
              </a:spcAft>
              <a:defRPr sz="1050">
                <a:solidFill>
                  <a:srgbClr val="F8FAFC"/>
                </a:solidFill>
              </a:defRPr>
            </a:pPr>
            <a:r>
              <a:t>• Scheduling Logic: Multi-agent heuristic scoring across discrete 30-min slots.</a:t>
            </a:r>
          </a:p>
          <a:p>
            <a:pPr>
              <a:spcAft>
                <a:spcPts val="350"/>
              </a:spcAft>
              <a:defRPr sz="1050">
                <a:solidFill>
                  <a:srgbClr val="F8FAFC"/>
                </a:solidFill>
              </a:defRPr>
            </a:pPr>
            <a:r>
              <a:t>• Tariff Arbitrage: Automatically shifts flexible charging to cheap off-peak hours.</a:t>
            </a:r>
          </a:p>
          <a:p>
            <a:pPr>
              <a:spcAft>
                <a:spcPts val="350"/>
              </a:spcAft>
              <a:defRPr sz="1050">
                <a:solidFill>
                  <a:srgbClr val="F8FAFC"/>
                </a:solidFill>
              </a:defRPr>
            </a:pPr>
            <a:r>
              <a:t>• Urgency Heuristics: Dynamically ranks vehicles by battery deficit and departure deadline slack.</a:t>
            </a:r>
          </a:p>
          <a:p>
            <a:pPr>
              <a:spcAft>
                <a:spcPts val="350"/>
              </a:spcAft>
              <a:defRPr sz="1050">
                <a:solidFill>
                  <a:srgbClr val="F8FAFC"/>
                </a:solidFill>
              </a:defRPr>
            </a:pPr>
            <a:r>
              <a:t>• Conflict Handling: Independent Critic Agent audits all physical constraints.</a:t>
            </a:r>
          </a:p>
          <a:p>
            <a:pPr>
              <a:spcAft>
                <a:spcPts val="350"/>
              </a:spcAft>
              <a:defRPr sz="1050">
                <a:solidFill>
                  <a:srgbClr val="F8FAFC"/>
                </a:solidFill>
              </a:defRPr>
            </a:pPr>
            <a:r>
              <a:t>• Self-Healing: Autonomous closed-loop replanning resolves conflicts without crashing.</a:t>
            </a:r>
          </a:p>
          <a:p>
            <a:pPr>
              <a:spcAft>
                <a:spcPts val="350"/>
              </a:spcAft>
              <a:defRPr sz="1050">
                <a:solidFill>
                  <a:srgbClr val="F8FAFC"/>
                </a:solidFill>
              </a:defRPr>
            </a:pPr>
            <a:r>
              <a:t>• Operating Cost: 20-30% cost reduction with guaranteed vehicle turnaround.</a:t>
            </a:r>
          </a:p>
        </p:txBody>
      </p:sp>
      <p:sp>
        <p:nvSpPr>
          <p:cNvPr id="10" name="Rounded Rectangle 9"/>
          <p:cNvSpPr/>
          <p:nvPr/>
        </p:nvSpPr>
        <p:spPr>
          <a:xfrm>
            <a:off x="8046720" y="1554480"/>
            <a:ext cx="3383280" cy="39319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691639"/>
            <a:ext cx="3017520" cy="3657600"/>
          </a:xfrm>
          <a:prstGeom prst="rect">
            <a:avLst/>
          </a:prstGeom>
          <a:noFill/>
        </p:spPr>
        <p:txBody>
          <a:bodyPr wrap="square">
            <a:spAutoFit/>
          </a:bodyPr>
          <a:lstStyle/>
          <a:p>
            <a:pPr>
              <a:spcAft>
                <a:spcPts val="600"/>
              </a:spcAft>
              <a:defRPr sz="1400" b="1">
                <a:solidFill>
                  <a:srgbClr val="38BDF8"/>
                </a:solidFill>
              </a:defRPr>
            </a:pPr>
            <a:r>
              <a:t>Measurable Business Value</a:t>
            </a:r>
          </a:p>
          <a:p>
            <a:pPr>
              <a:spcAft>
                <a:spcPts val="350"/>
              </a:spcAft>
              <a:defRPr sz="1050">
                <a:solidFill>
                  <a:srgbClr val="F8FAFC"/>
                </a:solidFill>
              </a:defRPr>
            </a:pPr>
            <a:r>
              <a:t>• Cost Savings: Significant reduction in power bills via off-peak tariff arbitrage.</a:t>
            </a:r>
          </a:p>
          <a:p>
            <a:pPr>
              <a:spcAft>
                <a:spcPts val="350"/>
              </a:spcAft>
              <a:defRPr sz="1050">
                <a:solidFill>
                  <a:srgbClr val="F8FAFC"/>
                </a:solidFill>
              </a:defRPr>
            </a:pPr>
            <a:r>
              <a:t>• Grid Safety: Guaranteed zero charger overlaps and zero transformer overloads.</a:t>
            </a:r>
          </a:p>
          <a:p>
            <a:pPr>
              <a:spcAft>
                <a:spcPts val="350"/>
              </a:spcAft>
              <a:defRPr sz="1050">
                <a:solidFill>
                  <a:srgbClr val="F8FAFC"/>
                </a:solidFill>
              </a:defRPr>
            </a:pPr>
            <a:r>
              <a:t>• Fleet Turnaround: 100% of prioritized urgent vehicles meet their departure deadlines.</a:t>
            </a:r>
          </a:p>
          <a:p>
            <a:pPr>
              <a:spcAft>
                <a:spcPts val="350"/>
              </a:spcAft>
              <a:defRPr sz="1050">
                <a:solidFill>
                  <a:srgbClr val="F8FAFC"/>
                </a:solidFill>
              </a:defRPr>
            </a:pPr>
            <a:r>
              <a:t>• Auditability: Complete numbered decision trace of every agent action.</a:t>
            </a:r>
          </a:p>
          <a:p>
            <a:pPr>
              <a:spcAft>
                <a:spcPts val="350"/>
              </a:spcAft>
              <a:defRPr sz="1050">
                <a:solidFill>
                  <a:srgbClr val="F8FAFC"/>
                </a:solidFill>
              </a:defRPr>
            </a:pPr>
            <a:r>
              <a:t>• Zero Paid Stack: Runs locally with Ollama/Mock AI without monthly API fees.</a:t>
            </a:r>
          </a:p>
        </p:txBody>
      </p:sp>
      <p:sp>
        <p:nvSpPr>
          <p:cNvPr id="12" name="Rounded Rectangle 11"/>
          <p:cNvSpPr/>
          <p:nvPr/>
        </p:nvSpPr>
        <p:spPr>
          <a:xfrm>
            <a:off x="731520" y="5577840"/>
            <a:ext cx="10698480" cy="868680"/>
          </a:xfrm>
          <a:prstGeom prst="roundRect">
            <a:avLst/>
          </a:prstGeom>
          <a:solidFill>
            <a:srgbClr val="18202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5650992"/>
            <a:ext cx="10424159" cy="722375"/>
          </a:xfrm>
          <a:prstGeom prst="rect">
            <a:avLst/>
          </a:prstGeom>
          <a:noFill/>
        </p:spPr>
        <p:txBody>
          <a:bodyPr wrap="square">
            <a:spAutoFit/>
          </a:bodyPr>
          <a:lstStyle/>
          <a:p>
            <a:pPr>
              <a:spcAft>
                <a:spcPts val="200"/>
              </a:spcAft>
              <a:defRPr sz="1100" b="1">
                <a:solidFill>
                  <a:srgbClr val="F59E0B"/>
                </a:solidFill>
              </a:defRPr>
            </a:pPr>
            <a:r>
              <a:t>🎯 Counter-Question: 'Why not just use a simple Python dictionary lookup?'</a:t>
            </a:r>
          </a:p>
          <a:p>
            <a:pPr>
              <a:defRPr sz="950">
                <a:solidFill>
                  <a:srgbClr val="F8FAFC"/>
                </a:solidFill>
              </a:defRPr>
            </a:pPr>
            <a:r>
              <a:t>Answer: A dictionary lookup cannot balance three competing dimensions simultaneously (price vs. urgency vs. waiting), cannot perform zero-trust auditing, and cannot self-heal via conditional replanning when constraints are violated.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10728655"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728655" cy="320040"/>
          </a:xfrm>
          <a:prstGeom prst="rect">
            <a:avLst/>
          </a:prstGeom>
          <a:noFill/>
        </p:spPr>
        <p:txBody>
          <a:bodyPr wrap="square">
            <a:spAutoFit/>
          </a:bodyPr>
          <a:lstStyle/>
          <a:p>
            <a:pPr>
              <a:defRPr sz="1000" b="1">
                <a:solidFill>
                  <a:srgbClr val="10B981"/>
                </a:solidFill>
              </a:defRPr>
            </a:pPr>
            <a:r>
              <a:t>SYSTEM ENGINEERING</a:t>
            </a:r>
          </a:p>
        </p:txBody>
      </p:sp>
      <p:sp>
        <p:nvSpPr>
          <p:cNvPr id="5" name="TextBox 4"/>
          <p:cNvSpPr txBox="1"/>
          <p:nvPr/>
        </p:nvSpPr>
        <p:spPr>
          <a:xfrm>
            <a:off x="731520" y="777240"/>
            <a:ext cx="10728655" cy="685800"/>
          </a:xfrm>
          <a:prstGeom prst="rect">
            <a:avLst/>
          </a:prstGeom>
          <a:noFill/>
        </p:spPr>
        <p:txBody>
          <a:bodyPr wrap="square">
            <a:spAutoFit/>
          </a:bodyPr>
          <a:lstStyle/>
          <a:p>
            <a:pPr>
              <a:defRPr sz="2200" b="1">
                <a:solidFill>
                  <a:srgbClr val="F8FAFC"/>
                </a:solidFill>
              </a:defRPr>
            </a:pPr>
            <a:r>
              <a:t>Multi-Agent System Architecture &amp; Data Flow</a:t>
            </a:r>
          </a:p>
        </p:txBody>
      </p:sp>
      <p:sp>
        <p:nvSpPr>
          <p:cNvPr id="6" name="Rounded Rectangle 5"/>
          <p:cNvSpPr/>
          <p:nvPr/>
        </p:nvSpPr>
        <p:spPr>
          <a:xfrm>
            <a:off x="731520" y="1554480"/>
            <a:ext cx="5212080" cy="39319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91639"/>
            <a:ext cx="4846320" cy="3657600"/>
          </a:xfrm>
          <a:prstGeom prst="rect">
            <a:avLst/>
          </a:prstGeom>
          <a:noFill/>
        </p:spPr>
        <p:txBody>
          <a:bodyPr wrap="square">
            <a:spAutoFit/>
          </a:bodyPr>
          <a:lstStyle/>
          <a:p>
            <a:pPr>
              <a:spcAft>
                <a:spcPts val="600"/>
              </a:spcAft>
              <a:defRPr sz="1400" b="1">
                <a:solidFill>
                  <a:srgbClr val="38BDF8"/>
                </a:solidFill>
              </a:defRPr>
            </a:pPr>
            <a:r>
              <a:t>5-Layer Architectural Pipeline</a:t>
            </a:r>
          </a:p>
          <a:p>
            <a:pPr>
              <a:spcAft>
                <a:spcPts val="350"/>
              </a:spcAft>
              <a:defRPr sz="1050">
                <a:solidFill>
                  <a:srgbClr val="F8FAFC"/>
                </a:solidFill>
              </a:defRPr>
            </a:pPr>
            <a:r>
              <a:t>• 1. Ingestion Layer: Streamlit UI captures EV telemetry (SoC, target %, departure, kW) and 30-min ToU tariffs.</a:t>
            </a:r>
          </a:p>
          <a:p>
            <a:pPr>
              <a:spcAft>
                <a:spcPts val="350"/>
              </a:spcAft>
              <a:defRPr sz="1050">
                <a:solidFill>
                  <a:srgbClr val="F8FAFC"/>
                </a:solidFill>
              </a:defRPr>
            </a:pPr>
            <a:r>
              <a:t>• 2. Coordinator / Planner: Decomposes overall goal into structured subtasks and configures decision policy weights.</a:t>
            </a:r>
          </a:p>
          <a:p>
            <a:pPr>
              <a:spcAft>
                <a:spcPts val="350"/>
              </a:spcAft>
              <a:defRPr sz="1050">
                <a:solidFill>
                  <a:srgbClr val="F8FAFC"/>
                </a:solidFill>
              </a:defRPr>
            </a:pPr>
            <a:r>
              <a:t>• 3. Research &amp; Execution: Calculates energy deficit, ranks vehicles by urgency, and allocates contiguous slots across 4 chargers.</a:t>
            </a:r>
          </a:p>
          <a:p>
            <a:pPr>
              <a:spcAft>
                <a:spcPts val="350"/>
              </a:spcAft>
              <a:defRPr sz="1050">
                <a:solidFill>
                  <a:srgbClr val="F8FAFC"/>
                </a:solidFill>
              </a:defRPr>
            </a:pPr>
            <a:r>
              <a:t>• 4. Independent Critic: Decoupled auditor verifies 6 hard physical constraints with zero trust in planner output.</a:t>
            </a:r>
          </a:p>
          <a:p>
            <a:pPr>
              <a:spcAft>
                <a:spcPts val="350"/>
              </a:spcAft>
              <a:defRPr sz="1050">
                <a:solidFill>
                  <a:srgbClr val="F8FAFC"/>
                </a:solidFill>
              </a:defRPr>
            </a:pPr>
            <a:r>
              <a:t>• 5. Explanation &amp; Automation: LangChain + Local Ollama / Mock Engine translates schedule context into plain English for operators.</a:t>
            </a:r>
          </a:p>
        </p:txBody>
      </p:sp>
      <p:sp>
        <p:nvSpPr>
          <p:cNvPr id="8" name="Rounded Rectangle 7"/>
          <p:cNvSpPr/>
          <p:nvPr/>
        </p:nvSpPr>
        <p:spPr>
          <a:xfrm>
            <a:off x="6217920" y="1554480"/>
            <a:ext cx="5212080" cy="39319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91639"/>
            <a:ext cx="4846320" cy="3657600"/>
          </a:xfrm>
          <a:prstGeom prst="rect">
            <a:avLst/>
          </a:prstGeom>
          <a:noFill/>
        </p:spPr>
        <p:txBody>
          <a:bodyPr wrap="square">
            <a:spAutoFit/>
          </a:bodyPr>
          <a:lstStyle/>
          <a:p>
            <a:pPr>
              <a:spcAft>
                <a:spcPts val="600"/>
              </a:spcAft>
              <a:defRPr sz="1400" b="1">
                <a:solidFill>
                  <a:srgbClr val="10B981"/>
                </a:solidFill>
              </a:defRPr>
            </a:pPr>
            <a:r>
              <a:t>Closed-Loop Orchestration Mechanics</a:t>
            </a:r>
          </a:p>
          <a:p>
            <a:pPr>
              <a:spcAft>
                <a:spcPts val="350"/>
              </a:spcAft>
              <a:defRPr sz="1050">
                <a:solidFill>
                  <a:srgbClr val="F8FAFC"/>
                </a:solidFill>
              </a:defRPr>
            </a:pPr>
            <a:r>
              <a:t>• Deterministic Tool Execution: Calculations (kWh, slot counts, tariff sums) are executed by pure Python tools.</a:t>
            </a:r>
          </a:p>
          <a:p>
            <a:pPr>
              <a:spcAft>
                <a:spcPts val="350"/>
              </a:spcAft>
              <a:defRPr sz="1050">
                <a:solidFill>
                  <a:srgbClr val="F8FAFC"/>
                </a:solidFill>
              </a:defRPr>
            </a:pPr>
            <a:r>
              <a:t>• Separation of Concerns: The agent that plans DOES NOT validate its own output, eliminating confirmation bias.</a:t>
            </a:r>
          </a:p>
          <a:p>
            <a:pPr>
              <a:spcAft>
                <a:spcPts val="350"/>
              </a:spcAft>
              <a:defRPr sz="1050">
                <a:solidFill>
                  <a:srgbClr val="F8FAFC"/>
                </a:solidFill>
              </a:defRPr>
            </a:pPr>
            <a:r>
              <a:t>• Reflection &amp; Replanning Loop: If Critic returns REJECT, the Coordinator catches diagnostics and initiates Attempt 2.</a:t>
            </a:r>
          </a:p>
          <a:p>
            <a:pPr>
              <a:spcAft>
                <a:spcPts val="350"/>
              </a:spcAft>
              <a:defRPr sz="1050">
                <a:solidFill>
                  <a:srgbClr val="F8FAFC"/>
                </a:solidFill>
              </a:defRPr>
            </a:pPr>
            <a:r>
              <a:t>• Safety Boundary: The LLM is strictly an Explainer; it has ZERO write access to the schedule and cannot bypass the Critic.</a:t>
            </a:r>
          </a:p>
        </p:txBody>
      </p:sp>
      <p:sp>
        <p:nvSpPr>
          <p:cNvPr id="10" name="Rounded Rectangle 9"/>
          <p:cNvSpPr/>
          <p:nvPr/>
        </p:nvSpPr>
        <p:spPr>
          <a:xfrm>
            <a:off x="731520" y="5577840"/>
            <a:ext cx="10698480" cy="868680"/>
          </a:xfrm>
          <a:prstGeom prst="roundRect">
            <a:avLst/>
          </a:prstGeom>
          <a:solidFill>
            <a:srgbClr val="18202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650992"/>
            <a:ext cx="10424159" cy="722375"/>
          </a:xfrm>
          <a:prstGeom prst="rect">
            <a:avLst/>
          </a:prstGeom>
          <a:noFill/>
        </p:spPr>
        <p:txBody>
          <a:bodyPr wrap="square">
            <a:spAutoFit/>
          </a:bodyPr>
          <a:lstStyle/>
          <a:p>
            <a:pPr>
              <a:spcAft>
                <a:spcPts val="200"/>
              </a:spcAft>
              <a:defRPr sz="1100" b="1">
                <a:solidFill>
                  <a:srgbClr val="F59E0B"/>
                </a:solidFill>
              </a:defRPr>
            </a:pPr>
            <a:r>
              <a:t>🔍 Counter-Question: 'Is this a true multi-agent system or just sequential functions?'</a:t>
            </a:r>
          </a:p>
          <a:p>
            <a:pPr>
              <a:defRPr sz="950">
                <a:solidFill>
                  <a:srgbClr val="F8FAFC"/>
                </a:solidFill>
              </a:defRPr>
            </a:pPr>
            <a:r>
              <a:t>Answer: It is an orchestrated agentic system because agents have specialized roles, exchange structured state messages, enforce an independent Critic-evaluator feedback loop, and branch dynamically based on constraint satisfaction.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10728655"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728655" cy="320040"/>
          </a:xfrm>
          <a:prstGeom prst="rect">
            <a:avLst/>
          </a:prstGeom>
          <a:noFill/>
        </p:spPr>
        <p:txBody>
          <a:bodyPr wrap="square">
            <a:spAutoFit/>
          </a:bodyPr>
          <a:lstStyle/>
          <a:p>
            <a:pPr>
              <a:defRPr sz="1000" b="1">
                <a:solidFill>
                  <a:srgbClr val="10B981"/>
                </a:solidFill>
              </a:defRPr>
            </a:pPr>
            <a:r>
              <a:t>ROLE SPECIALIZATION</a:t>
            </a:r>
          </a:p>
        </p:txBody>
      </p:sp>
      <p:sp>
        <p:nvSpPr>
          <p:cNvPr id="5" name="TextBox 4"/>
          <p:cNvSpPr txBox="1"/>
          <p:nvPr/>
        </p:nvSpPr>
        <p:spPr>
          <a:xfrm>
            <a:off x="731520" y="777240"/>
            <a:ext cx="10728655" cy="685800"/>
          </a:xfrm>
          <a:prstGeom prst="rect">
            <a:avLst/>
          </a:prstGeom>
          <a:noFill/>
        </p:spPr>
        <p:txBody>
          <a:bodyPr wrap="square">
            <a:spAutoFit/>
          </a:bodyPr>
          <a:lstStyle/>
          <a:p>
            <a:pPr>
              <a:defRPr sz="2200" b="1">
                <a:solidFill>
                  <a:srgbClr val="F8FAFC"/>
                </a:solidFill>
              </a:defRPr>
            </a:pPr>
            <a:r>
              <a:t>Agent Roles &amp; Responsibilities (CA-3 Taxonomy)</a:t>
            </a:r>
          </a:p>
        </p:txBody>
      </p:sp>
      <p:sp>
        <p:nvSpPr>
          <p:cNvPr id="6" name="Rounded Rectangle 5"/>
          <p:cNvSpPr/>
          <p:nvPr/>
        </p:nvSpPr>
        <p:spPr>
          <a:xfrm>
            <a:off x="731520" y="1554480"/>
            <a:ext cx="3383280" cy="19202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91639"/>
            <a:ext cx="3017520" cy="1645920"/>
          </a:xfrm>
          <a:prstGeom prst="rect">
            <a:avLst/>
          </a:prstGeom>
          <a:noFill/>
        </p:spPr>
        <p:txBody>
          <a:bodyPr wrap="square">
            <a:spAutoFit/>
          </a:bodyPr>
          <a:lstStyle/>
          <a:p>
            <a:pPr>
              <a:spcAft>
                <a:spcPts val="600"/>
              </a:spcAft>
              <a:defRPr sz="1300" b="1">
                <a:solidFill>
                  <a:srgbClr val="10B981"/>
                </a:solidFill>
              </a:defRPr>
            </a:pPr>
            <a:r>
              <a:t>1. Planner Agent (Coordinator)</a:t>
            </a:r>
          </a:p>
          <a:p>
            <a:pPr>
              <a:spcAft>
                <a:spcPts val="350"/>
              </a:spcAft>
              <a:defRPr sz="1000">
                <a:solidFill>
                  <a:srgbClr val="F8FAFC"/>
                </a:solidFill>
              </a:defRPr>
            </a:pPr>
            <a:r>
              <a:t>• What it does: Decomposes goal into 5 subtasks; sets policy weights.</a:t>
            </a:r>
          </a:p>
          <a:p>
            <a:pPr>
              <a:spcAft>
                <a:spcPts val="350"/>
              </a:spcAft>
              <a:defRPr sz="1000">
                <a:solidFill>
                  <a:srgbClr val="F8FAFC"/>
                </a:solidFill>
              </a:defRPr>
            </a:pPr>
            <a:r>
              <a:t>• Why it's used: Centralizes execution pipeline and orchestrates conditional replan loops.</a:t>
            </a:r>
          </a:p>
        </p:txBody>
      </p:sp>
      <p:sp>
        <p:nvSpPr>
          <p:cNvPr id="8" name="Rounded Rectangle 7"/>
          <p:cNvSpPr/>
          <p:nvPr/>
        </p:nvSpPr>
        <p:spPr>
          <a:xfrm>
            <a:off x="4389120" y="1554480"/>
            <a:ext cx="3383280" cy="19202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691639"/>
            <a:ext cx="3017520" cy="1645920"/>
          </a:xfrm>
          <a:prstGeom prst="rect">
            <a:avLst/>
          </a:prstGeom>
          <a:noFill/>
        </p:spPr>
        <p:txBody>
          <a:bodyPr wrap="square">
            <a:spAutoFit/>
          </a:bodyPr>
          <a:lstStyle/>
          <a:p>
            <a:pPr>
              <a:spcAft>
                <a:spcPts val="600"/>
              </a:spcAft>
              <a:defRPr sz="1300" b="1">
                <a:solidFill>
                  <a:srgbClr val="38BDF8"/>
                </a:solidFill>
              </a:defRPr>
            </a:pPr>
            <a:r>
              <a:t>2. Research &amp; Analysis Agent</a:t>
            </a:r>
          </a:p>
          <a:p>
            <a:pPr>
              <a:spcAft>
                <a:spcPts val="350"/>
              </a:spcAft>
              <a:defRPr sz="1000">
                <a:solidFill>
                  <a:srgbClr val="F8FAFC"/>
                </a:solidFill>
              </a:defRPr>
            </a:pPr>
            <a:r>
              <a:t>• What it does: Ingests requests and tariffs; computes kWh deficit &amp; urgency score.</a:t>
            </a:r>
          </a:p>
          <a:p>
            <a:pPr>
              <a:spcAft>
                <a:spcPts val="350"/>
              </a:spcAft>
              <a:defRPr sz="1000">
                <a:solidFill>
                  <a:srgbClr val="F8FAFC"/>
                </a:solidFill>
              </a:defRPr>
            </a:pPr>
            <a:r>
              <a:t>• Why it's used: Pre-evaluates vehicle feasibility before allocating scarce chargers.</a:t>
            </a:r>
          </a:p>
        </p:txBody>
      </p:sp>
      <p:sp>
        <p:nvSpPr>
          <p:cNvPr id="10" name="Rounded Rectangle 9"/>
          <p:cNvSpPr/>
          <p:nvPr/>
        </p:nvSpPr>
        <p:spPr>
          <a:xfrm>
            <a:off x="8046720" y="1554480"/>
            <a:ext cx="3383280" cy="19202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691639"/>
            <a:ext cx="3017520" cy="1645920"/>
          </a:xfrm>
          <a:prstGeom prst="rect">
            <a:avLst/>
          </a:prstGeom>
          <a:noFill/>
        </p:spPr>
        <p:txBody>
          <a:bodyPr wrap="square">
            <a:spAutoFit/>
          </a:bodyPr>
          <a:lstStyle/>
          <a:p>
            <a:pPr>
              <a:spcAft>
                <a:spcPts val="600"/>
              </a:spcAft>
              <a:defRPr sz="1300" b="1">
                <a:solidFill>
                  <a:srgbClr val="F59E0B"/>
                </a:solidFill>
              </a:defRPr>
            </a:pPr>
            <a:r>
              <a:t>3. Executor Agent (Planner)</a:t>
            </a:r>
          </a:p>
          <a:p>
            <a:pPr>
              <a:spcAft>
                <a:spcPts val="350"/>
              </a:spcAft>
              <a:defRPr sz="1000">
                <a:solidFill>
                  <a:srgbClr val="F8FAFC"/>
                </a:solidFill>
              </a:defRPr>
            </a:pPr>
            <a:r>
              <a:t>• What it does: Ranks requests and assigns contiguous slots across 4 chargers.</a:t>
            </a:r>
          </a:p>
          <a:p>
            <a:pPr>
              <a:spcAft>
                <a:spcPts val="350"/>
              </a:spcAft>
              <a:defRPr sz="1000">
                <a:solidFill>
                  <a:srgbClr val="F8FAFC"/>
                </a:solidFill>
              </a:defRPr>
            </a:pPr>
            <a:r>
              <a:t>• Why it's used: Implements multi-objective candidate scoring to minimize tariff costs.</a:t>
            </a:r>
          </a:p>
        </p:txBody>
      </p:sp>
      <p:sp>
        <p:nvSpPr>
          <p:cNvPr id="12" name="Rounded Rectangle 11"/>
          <p:cNvSpPr/>
          <p:nvPr/>
        </p:nvSpPr>
        <p:spPr>
          <a:xfrm>
            <a:off x="731520" y="3566160"/>
            <a:ext cx="5212080" cy="19202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703320"/>
            <a:ext cx="4846320" cy="1645920"/>
          </a:xfrm>
          <a:prstGeom prst="rect">
            <a:avLst/>
          </a:prstGeom>
          <a:noFill/>
        </p:spPr>
        <p:txBody>
          <a:bodyPr wrap="square">
            <a:spAutoFit/>
          </a:bodyPr>
          <a:lstStyle/>
          <a:p>
            <a:pPr>
              <a:spcAft>
                <a:spcPts val="600"/>
              </a:spcAft>
              <a:defRPr sz="1300" b="1">
                <a:solidFill>
                  <a:srgbClr val="F43F5E"/>
                </a:solidFill>
              </a:defRPr>
            </a:pPr>
            <a:r>
              <a:t>4. Critic Agent (Independent Validator)</a:t>
            </a:r>
          </a:p>
          <a:p>
            <a:pPr>
              <a:spcAft>
                <a:spcPts val="350"/>
              </a:spcAft>
              <a:defRPr sz="1000">
                <a:solidFill>
                  <a:srgbClr val="F8FAFC"/>
                </a:solidFill>
              </a:defRPr>
            </a:pPr>
            <a:r>
              <a:t>• What it does: Zero-trust audit of 6 physical constraints (charger overlaps, deadlines, power limits).</a:t>
            </a:r>
          </a:p>
          <a:p>
            <a:pPr>
              <a:spcAft>
                <a:spcPts val="350"/>
              </a:spcAft>
              <a:defRPr sz="1000">
                <a:solidFill>
                  <a:srgbClr val="F8FAFC"/>
                </a:solidFill>
              </a:defRPr>
            </a:pPr>
            <a:r>
              <a:t>• Why it's used: Crucial safety boundary. Prevents equipment damage, breaker trips, and driver disputes by rejecting invalid plans.</a:t>
            </a:r>
          </a:p>
        </p:txBody>
      </p:sp>
      <p:sp>
        <p:nvSpPr>
          <p:cNvPr id="14" name="Rounded Rectangle 13"/>
          <p:cNvSpPr/>
          <p:nvPr/>
        </p:nvSpPr>
        <p:spPr>
          <a:xfrm>
            <a:off x="6217920" y="3566160"/>
            <a:ext cx="5212080" cy="19202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3703320"/>
            <a:ext cx="4846320" cy="1645920"/>
          </a:xfrm>
          <a:prstGeom prst="rect">
            <a:avLst/>
          </a:prstGeom>
          <a:noFill/>
        </p:spPr>
        <p:txBody>
          <a:bodyPr wrap="square">
            <a:spAutoFit/>
          </a:bodyPr>
          <a:lstStyle/>
          <a:p>
            <a:pPr>
              <a:spcAft>
                <a:spcPts val="600"/>
              </a:spcAft>
              <a:defRPr sz="1300" b="1">
                <a:solidFill>
                  <a:srgbClr val="A855F7"/>
                </a:solidFill>
              </a:defRPr>
            </a:pPr>
            <a:r>
              <a:t>5. Explanation Agent (Business Automation)</a:t>
            </a:r>
          </a:p>
          <a:p>
            <a:pPr>
              <a:spcAft>
                <a:spcPts val="350"/>
              </a:spcAft>
              <a:defRPr sz="1000">
                <a:solidFill>
                  <a:srgbClr val="F8FAFC"/>
                </a:solidFill>
              </a:defRPr>
            </a:pPr>
            <a:r>
              <a:t>• What it does: Answers manager questions and explains policy trade-offs via LangChain + Ollama/Mock Engine.</a:t>
            </a:r>
          </a:p>
          <a:p>
            <a:pPr>
              <a:spcAft>
                <a:spcPts val="350"/>
              </a:spcAft>
              <a:defRPr sz="1000">
                <a:solidFill>
                  <a:srgbClr val="F8FAFC"/>
                </a:solidFill>
              </a:defRPr>
            </a:pPr>
            <a:r>
              <a:t>• Why it's used: Human-in-the-loop transparency. Empowers non-technical depot managers to understand and trust AI decisions.</a:t>
            </a:r>
          </a:p>
        </p:txBody>
      </p:sp>
      <p:sp>
        <p:nvSpPr>
          <p:cNvPr id="16" name="Rounded Rectangle 15"/>
          <p:cNvSpPr/>
          <p:nvPr/>
        </p:nvSpPr>
        <p:spPr>
          <a:xfrm>
            <a:off x="731520" y="5577840"/>
            <a:ext cx="10698480" cy="868680"/>
          </a:xfrm>
          <a:prstGeom prst="roundRect">
            <a:avLst/>
          </a:prstGeom>
          <a:solidFill>
            <a:srgbClr val="18202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5650992"/>
            <a:ext cx="10424159" cy="722375"/>
          </a:xfrm>
          <a:prstGeom prst="rect">
            <a:avLst/>
          </a:prstGeom>
          <a:noFill/>
        </p:spPr>
        <p:txBody>
          <a:bodyPr wrap="square">
            <a:spAutoFit/>
          </a:bodyPr>
          <a:lstStyle/>
          <a:p>
            <a:pPr>
              <a:spcAft>
                <a:spcPts val="200"/>
              </a:spcAft>
              <a:defRPr sz="1100" b="1">
                <a:solidFill>
                  <a:srgbClr val="F59E0B"/>
                </a:solidFill>
              </a:defRPr>
            </a:pPr>
            <a:r>
              <a:t>💡 Teacher Question: 'Why do you need both an Executor Agent and an Energy Cost Tool?'</a:t>
            </a:r>
          </a:p>
          <a:p>
            <a:pPr>
              <a:defRPr sz="950">
                <a:solidFill>
                  <a:srgbClr val="F8FAFC"/>
                </a:solidFill>
              </a:defRPr>
            </a:pPr>
            <a:r>
              <a:t>Answer: Separation of decision-making from deterministic arithmetic. The Executor Agent solves the combinatorial assignment problem, while the Cost Tool performs verified tariff multiplication across slot intervals.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10728655"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728655" cy="320040"/>
          </a:xfrm>
          <a:prstGeom prst="rect">
            <a:avLst/>
          </a:prstGeom>
          <a:noFill/>
        </p:spPr>
        <p:txBody>
          <a:bodyPr wrap="square">
            <a:spAutoFit/>
          </a:bodyPr>
          <a:lstStyle/>
          <a:p>
            <a:pPr>
              <a:defRPr sz="1000" b="1">
                <a:solidFill>
                  <a:srgbClr val="10B981"/>
                </a:solidFill>
              </a:defRPr>
            </a:pPr>
            <a:r>
              <a:t>OPERATIONAL WORKFLOW</a:t>
            </a:r>
          </a:p>
        </p:txBody>
      </p:sp>
      <p:sp>
        <p:nvSpPr>
          <p:cNvPr id="5" name="TextBox 4"/>
          <p:cNvSpPr txBox="1"/>
          <p:nvPr/>
        </p:nvSpPr>
        <p:spPr>
          <a:xfrm>
            <a:off x="731520" y="777240"/>
            <a:ext cx="10728655" cy="685800"/>
          </a:xfrm>
          <a:prstGeom prst="rect">
            <a:avLst/>
          </a:prstGeom>
          <a:noFill/>
        </p:spPr>
        <p:txBody>
          <a:bodyPr wrap="square">
            <a:spAutoFit/>
          </a:bodyPr>
          <a:lstStyle/>
          <a:p>
            <a:pPr>
              <a:defRPr sz="2200" b="1">
                <a:solidFill>
                  <a:srgbClr val="F8FAFC"/>
                </a:solidFill>
              </a:defRPr>
            </a:pPr>
            <a:r>
              <a:t>How It Works: Step-by-Step Execution Lifecycle</a:t>
            </a:r>
          </a:p>
        </p:txBody>
      </p:sp>
      <p:sp>
        <p:nvSpPr>
          <p:cNvPr id="6" name="Rounded Rectangle 5"/>
          <p:cNvSpPr/>
          <p:nvPr/>
        </p:nvSpPr>
        <p:spPr>
          <a:xfrm>
            <a:off x="731520" y="1554480"/>
            <a:ext cx="5212080" cy="39319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91639"/>
            <a:ext cx="4846320" cy="3657600"/>
          </a:xfrm>
          <a:prstGeom prst="rect">
            <a:avLst/>
          </a:prstGeom>
          <a:noFill/>
        </p:spPr>
        <p:txBody>
          <a:bodyPr wrap="square">
            <a:spAutoFit/>
          </a:bodyPr>
          <a:lstStyle/>
          <a:p>
            <a:pPr>
              <a:spcAft>
                <a:spcPts val="600"/>
              </a:spcAft>
              <a:defRPr sz="1400" b="1">
                <a:solidFill>
                  <a:srgbClr val="38BDF8"/>
                </a:solidFill>
              </a:defRPr>
            </a:pPr>
            <a:r>
              <a:t>Phase 1: Ingestion &amp; Analysis</a:t>
            </a:r>
          </a:p>
          <a:p>
            <a:pPr>
              <a:spcAft>
                <a:spcPts val="350"/>
              </a:spcAft>
              <a:defRPr sz="1050">
                <a:solidFill>
                  <a:srgbClr val="F8FAFC"/>
                </a:solidFill>
              </a:defRPr>
            </a:pPr>
            <a:r>
              <a:t>• Step 1: Fleet Operator inputs vehicle specs (Battery %, Target %, Departure slot, kW).</a:t>
            </a:r>
          </a:p>
          <a:p>
            <a:pPr>
              <a:spcAft>
                <a:spcPts val="350"/>
              </a:spcAft>
              <a:defRPr sz="1050">
                <a:solidFill>
                  <a:srgbClr val="F8FAFC"/>
                </a:solidFill>
              </a:defRPr>
            </a:pPr>
            <a:r>
              <a:t>• Step 2: Planner Agent decomposes goal and configures policy weights (Balanced, Cost Saver, or Urgent First).</a:t>
            </a:r>
          </a:p>
          <a:p>
            <a:pPr>
              <a:spcAft>
                <a:spcPts val="350"/>
              </a:spcAft>
              <a:defRPr sz="1050">
                <a:solidFill>
                  <a:srgbClr val="F8FAFC"/>
                </a:solidFill>
              </a:defRPr>
            </a:pPr>
            <a:r>
              <a:t>• Step 3: Research Agent calculates kWh needed and evaluates feasibility window.</a:t>
            </a:r>
          </a:p>
          <a:p>
            <a:pPr>
              <a:spcAft>
                <a:spcPts val="350"/>
              </a:spcAft>
              <a:defRPr sz="1050">
                <a:solidFill>
                  <a:srgbClr val="F8FAFC"/>
                </a:solidFill>
              </a:defRPr>
            </a:pPr>
            <a:r>
              <a:t>• Step 4: Research Agent computes 3-factor Urgency Score to rank incoming requests.</a:t>
            </a:r>
          </a:p>
          <a:p>
            <a:pPr>
              <a:spcAft>
                <a:spcPts val="350"/>
              </a:spcAft>
              <a:defRPr sz="1050">
                <a:solidFill>
                  <a:srgbClr val="F8FAFC"/>
                </a:solidFill>
              </a:defRPr>
            </a:pPr>
            <a:r>
              <a:t>• Outcome: Prioritized vehicle queue ready for physical charger mapping.</a:t>
            </a:r>
          </a:p>
        </p:txBody>
      </p:sp>
      <p:sp>
        <p:nvSpPr>
          <p:cNvPr id="8" name="Rounded Rectangle 7"/>
          <p:cNvSpPr/>
          <p:nvPr/>
        </p:nvSpPr>
        <p:spPr>
          <a:xfrm>
            <a:off x="6217920" y="1554480"/>
            <a:ext cx="5212080" cy="39319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91639"/>
            <a:ext cx="4846320" cy="3657600"/>
          </a:xfrm>
          <a:prstGeom prst="rect">
            <a:avLst/>
          </a:prstGeom>
          <a:noFill/>
        </p:spPr>
        <p:txBody>
          <a:bodyPr wrap="square">
            <a:spAutoFit/>
          </a:bodyPr>
          <a:lstStyle/>
          <a:p>
            <a:pPr>
              <a:spcAft>
                <a:spcPts val="600"/>
              </a:spcAft>
              <a:defRPr sz="1400" b="1">
                <a:solidFill>
                  <a:srgbClr val="10B981"/>
                </a:solidFill>
              </a:defRPr>
            </a:pPr>
            <a:r>
              <a:t>Phase 2: Allocation, Validation &amp; Explanation</a:t>
            </a:r>
          </a:p>
          <a:p>
            <a:pPr>
              <a:spcAft>
                <a:spcPts val="350"/>
              </a:spcAft>
              <a:defRPr sz="1050">
                <a:solidFill>
                  <a:srgbClr val="F8FAFC"/>
                </a:solidFill>
              </a:defRPr>
            </a:pPr>
            <a:r>
              <a:t>• Step 5: Executor Agent searches candidate slots on Chargers 1–4, shifting loads to cheap hours.</a:t>
            </a:r>
          </a:p>
          <a:p>
            <a:pPr>
              <a:spcAft>
                <a:spcPts val="350"/>
              </a:spcAft>
              <a:defRPr sz="1050">
                <a:solidFill>
                  <a:srgbClr val="F8FAFC"/>
                </a:solidFill>
              </a:defRPr>
            </a:pPr>
            <a:r>
              <a:t>• Step 6: Energy Cost Tool calculates per-slot and total electricity bill.</a:t>
            </a:r>
          </a:p>
          <a:p>
            <a:pPr>
              <a:spcAft>
                <a:spcPts val="350"/>
              </a:spcAft>
              <a:defRPr sz="1050">
                <a:solidFill>
                  <a:srgbClr val="F8FAFC"/>
                </a:solidFill>
              </a:defRPr>
            </a:pPr>
            <a:r>
              <a:t>• Step 7: Critic Agent audits 6 hard physical constraints (zero-trust safety check).</a:t>
            </a:r>
          </a:p>
          <a:p>
            <a:pPr>
              <a:spcAft>
                <a:spcPts val="350"/>
              </a:spcAft>
              <a:defRPr sz="1050">
                <a:solidFill>
                  <a:srgbClr val="F8FAFC"/>
                </a:solidFill>
              </a:defRPr>
            </a:pPr>
            <a:r>
              <a:t>• Step 8: If conflict occurs → Coordinator executes Attempt 2 Replan autonomously.</a:t>
            </a:r>
          </a:p>
          <a:p>
            <a:pPr>
              <a:spcAft>
                <a:spcPts val="350"/>
              </a:spcAft>
              <a:defRPr sz="1050">
                <a:solidFill>
                  <a:srgbClr val="F8FAFC"/>
                </a:solidFill>
              </a:defRPr>
            </a:pPr>
            <a:r>
              <a:t>• Step 9: Explanation Agent synthesizes dispatch plan into human language for managers.</a:t>
            </a:r>
          </a:p>
        </p:txBody>
      </p:sp>
      <p:sp>
        <p:nvSpPr>
          <p:cNvPr id="10" name="Rounded Rectangle 9"/>
          <p:cNvSpPr/>
          <p:nvPr/>
        </p:nvSpPr>
        <p:spPr>
          <a:xfrm>
            <a:off x="731520" y="5577840"/>
            <a:ext cx="10698480" cy="868680"/>
          </a:xfrm>
          <a:prstGeom prst="roundRect">
            <a:avLst/>
          </a:prstGeom>
          <a:solidFill>
            <a:srgbClr val="18202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650992"/>
            <a:ext cx="10424159" cy="722375"/>
          </a:xfrm>
          <a:prstGeom prst="rect">
            <a:avLst/>
          </a:prstGeom>
          <a:noFill/>
        </p:spPr>
        <p:txBody>
          <a:bodyPr wrap="square">
            <a:spAutoFit/>
          </a:bodyPr>
          <a:lstStyle/>
          <a:p>
            <a:pPr>
              <a:spcAft>
                <a:spcPts val="200"/>
              </a:spcAft>
              <a:defRPr sz="1100" b="1">
                <a:solidFill>
                  <a:srgbClr val="F59E0B"/>
                </a:solidFill>
              </a:defRPr>
            </a:pPr>
            <a:r>
              <a:t>⚡ Quick Summary of How It Works (For Your Teacher)</a:t>
            </a:r>
          </a:p>
          <a:p>
            <a:pPr>
              <a:defRPr sz="950">
                <a:solidFill>
                  <a:srgbClr val="F8FAFC"/>
                </a:solidFill>
              </a:defRPr>
            </a:pPr>
            <a:r>
              <a:t>Incoming Fleet Demands → Urgency Ranking → Off-Peak Heuristic Slotting → Strict Critic Validation → (Self-Healing if needed) → Certified Dispatch &amp; AI Explanation.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10728655"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728655" cy="320040"/>
          </a:xfrm>
          <a:prstGeom prst="rect">
            <a:avLst/>
          </a:prstGeom>
          <a:noFill/>
        </p:spPr>
        <p:txBody>
          <a:bodyPr wrap="square">
            <a:spAutoFit/>
          </a:bodyPr>
          <a:lstStyle/>
          <a:p>
            <a:pPr>
              <a:defRPr sz="1000" b="1">
                <a:solidFill>
                  <a:srgbClr val="10B981"/>
                </a:solidFill>
              </a:defRPr>
            </a:pPr>
            <a:r>
              <a:t>CORE ALGORITHM DETAIL</a:t>
            </a:r>
          </a:p>
        </p:txBody>
      </p:sp>
      <p:sp>
        <p:nvSpPr>
          <p:cNvPr id="5" name="TextBox 4"/>
          <p:cNvSpPr txBox="1"/>
          <p:nvPr/>
        </p:nvSpPr>
        <p:spPr>
          <a:xfrm>
            <a:off x="731520" y="777240"/>
            <a:ext cx="10728655" cy="685800"/>
          </a:xfrm>
          <a:prstGeom prst="rect">
            <a:avLst/>
          </a:prstGeom>
          <a:noFill/>
        </p:spPr>
        <p:txBody>
          <a:bodyPr wrap="square">
            <a:spAutoFit/>
          </a:bodyPr>
          <a:lstStyle/>
          <a:p>
            <a:pPr>
              <a:defRPr sz="2200" b="1">
                <a:solidFill>
                  <a:srgbClr val="F8FAFC"/>
                </a:solidFill>
              </a:defRPr>
            </a:pPr>
            <a:r>
              <a:t>Mathematical Formulations: Vehicle Urgency Heuristic</a:t>
            </a:r>
          </a:p>
        </p:txBody>
      </p:sp>
      <p:sp>
        <p:nvSpPr>
          <p:cNvPr id="6" name="Rounded Rectangle 5"/>
          <p:cNvSpPr/>
          <p:nvPr/>
        </p:nvSpPr>
        <p:spPr>
          <a:xfrm>
            <a:off x="731520" y="1554480"/>
            <a:ext cx="5212080" cy="39319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91639"/>
            <a:ext cx="4846320" cy="3657600"/>
          </a:xfrm>
          <a:prstGeom prst="rect">
            <a:avLst/>
          </a:prstGeom>
          <a:noFill/>
        </p:spPr>
        <p:txBody>
          <a:bodyPr wrap="square">
            <a:spAutoFit/>
          </a:bodyPr>
          <a:lstStyle/>
          <a:p>
            <a:pPr>
              <a:spcAft>
                <a:spcPts val="600"/>
              </a:spcAft>
              <a:defRPr sz="1400" b="1">
                <a:solidFill>
                  <a:srgbClr val="38BDF8"/>
                </a:solidFill>
              </a:defRPr>
            </a:pPr>
            <a:r>
              <a:t>The 3-Factor Urgency Score Formula</a:t>
            </a:r>
          </a:p>
          <a:p>
            <a:pPr>
              <a:spcAft>
                <a:spcPts val="350"/>
              </a:spcAft>
              <a:defRPr sz="1050">
                <a:solidFill>
                  <a:srgbClr val="F8FAFC"/>
                </a:solidFill>
              </a:defRPr>
            </a:pPr>
            <a:r>
              <a:t>• Formula: U = 0.45 * LowBattery + 0.30 * TightDeadline + 0.25 * ChargePressure</a:t>
            </a:r>
          </a:p>
          <a:p>
            <a:pPr>
              <a:spcAft>
                <a:spcPts val="350"/>
              </a:spcAft>
              <a:defRPr sz="1050">
                <a:solidFill>
                  <a:srgbClr val="F8FAFC"/>
                </a:solidFill>
              </a:defRPr>
            </a:pPr>
            <a:r>
              <a:t>• 1. Low Battery (45% weight): (100 - Battery%) / 100</a:t>
            </a:r>
          </a:p>
          <a:p>
            <a:pPr>
              <a:spcAft>
                <a:spcPts val="350"/>
              </a:spcAft>
              <a:defRPr sz="1050">
                <a:solidFill>
                  <a:srgbClr val="F8FAFC"/>
                </a:solidFill>
              </a:defRPr>
            </a:pPr>
            <a:r>
              <a:t>•    -&gt; Heavily penalizes deep discharge; prevents vehicles from being stranded.</a:t>
            </a:r>
          </a:p>
          <a:p>
            <a:pPr>
              <a:spcAft>
                <a:spcPts val="350"/>
              </a:spcAft>
              <a:defRPr sz="1050">
                <a:solidFill>
                  <a:srgbClr val="F8FAFC"/>
                </a:solidFill>
              </a:defRPr>
            </a:pPr>
            <a:r>
              <a:t>• 2. Tight Deadline (30% weight): 1.0 / max(1, Departure - Arrival)</a:t>
            </a:r>
          </a:p>
          <a:p>
            <a:pPr>
              <a:spcAft>
                <a:spcPts val="350"/>
              </a:spcAft>
              <a:defRPr sz="1050">
                <a:solidFill>
                  <a:srgbClr val="F8FAFC"/>
                </a:solidFill>
              </a:defRPr>
            </a:pPr>
            <a:r>
              <a:t>•    -&gt; Prioritizes vehicles departing soonest.</a:t>
            </a:r>
          </a:p>
          <a:p>
            <a:pPr>
              <a:spcAft>
                <a:spcPts val="350"/>
              </a:spcAft>
              <a:defRPr sz="1050">
                <a:solidFill>
                  <a:srgbClr val="F8FAFC"/>
                </a:solidFill>
              </a:defRPr>
            </a:pPr>
            <a:r>
              <a:t>• 3. Charge Pressure (25% weight): SlotsNeeded / max(1, Departure - Arrival)</a:t>
            </a:r>
          </a:p>
          <a:p>
            <a:pPr>
              <a:spcAft>
                <a:spcPts val="350"/>
              </a:spcAft>
              <a:defRPr sz="1050">
                <a:solidFill>
                  <a:srgbClr val="F8FAFC"/>
                </a:solidFill>
              </a:defRPr>
            </a:pPr>
            <a:r>
              <a:t>•    -&gt; Measures how tightly the charging duration packs into the available window.</a:t>
            </a:r>
          </a:p>
        </p:txBody>
      </p:sp>
      <p:sp>
        <p:nvSpPr>
          <p:cNvPr id="8" name="Rounded Rectangle 7"/>
          <p:cNvSpPr/>
          <p:nvPr/>
        </p:nvSpPr>
        <p:spPr>
          <a:xfrm>
            <a:off x="6217920" y="1554480"/>
            <a:ext cx="5212080" cy="39319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91639"/>
            <a:ext cx="4846320" cy="3657600"/>
          </a:xfrm>
          <a:prstGeom prst="rect">
            <a:avLst/>
          </a:prstGeom>
          <a:noFill/>
        </p:spPr>
        <p:txBody>
          <a:bodyPr wrap="square">
            <a:spAutoFit/>
          </a:bodyPr>
          <a:lstStyle/>
          <a:p>
            <a:pPr>
              <a:spcAft>
                <a:spcPts val="600"/>
              </a:spcAft>
              <a:defRPr sz="1400" b="1">
                <a:solidFill>
                  <a:srgbClr val="10B981"/>
                </a:solidFill>
              </a:defRPr>
            </a:pPr>
            <a:r>
              <a:t>Why This Heuristic Was Chosen</a:t>
            </a:r>
          </a:p>
          <a:p>
            <a:pPr>
              <a:spcAft>
                <a:spcPts val="350"/>
              </a:spcAft>
              <a:defRPr sz="1050">
                <a:solidFill>
                  <a:srgbClr val="F8FAFC"/>
                </a:solidFill>
              </a:defRPr>
            </a:pPr>
            <a:r>
              <a:t>• Deterministic &amp; Explainable: Every score can be hand-verified and mathematically justified to fleet operators.</a:t>
            </a:r>
          </a:p>
          <a:p>
            <a:pPr>
              <a:spcAft>
                <a:spcPts val="350"/>
              </a:spcAft>
              <a:defRPr sz="1050">
                <a:solidFill>
                  <a:srgbClr val="F8FAFC"/>
                </a:solidFill>
              </a:defRPr>
            </a:pPr>
            <a:r>
              <a:t>• Sub-Millisecond Computation: Eliminates heavy training overhead and black-box neural network unpredictable behaviors.</a:t>
            </a:r>
          </a:p>
          <a:p>
            <a:pPr>
              <a:spcAft>
                <a:spcPts val="350"/>
              </a:spcAft>
              <a:defRPr sz="1050">
                <a:solidFill>
                  <a:srgbClr val="F8FAFC"/>
                </a:solidFill>
              </a:defRPr>
            </a:pPr>
            <a:r>
              <a:t>• Graceful Degradation: Handles edge cases (zero battery, same-slot departure) without divide-by-zero errors via max(1, ...).</a:t>
            </a:r>
          </a:p>
          <a:p>
            <a:pPr>
              <a:spcAft>
                <a:spcPts val="350"/>
              </a:spcAft>
              <a:defRPr sz="1050">
                <a:solidFill>
                  <a:srgbClr val="F8FAFC"/>
                </a:solidFill>
              </a:defRPr>
            </a:pPr>
            <a:r>
              <a:t>• Directly Drives Scheduling: The Executor Agent uses this Urgency Score to order incoming vehicle allocations.</a:t>
            </a:r>
          </a:p>
        </p:txBody>
      </p:sp>
      <p:sp>
        <p:nvSpPr>
          <p:cNvPr id="10" name="Rounded Rectangle 9"/>
          <p:cNvSpPr/>
          <p:nvPr/>
        </p:nvSpPr>
        <p:spPr>
          <a:xfrm>
            <a:off x="731520" y="5577840"/>
            <a:ext cx="10698480" cy="868680"/>
          </a:xfrm>
          <a:prstGeom prst="roundRect">
            <a:avLst/>
          </a:prstGeom>
          <a:solidFill>
            <a:srgbClr val="18202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650992"/>
            <a:ext cx="10424159" cy="722375"/>
          </a:xfrm>
          <a:prstGeom prst="rect">
            <a:avLst/>
          </a:prstGeom>
          <a:noFill/>
        </p:spPr>
        <p:txBody>
          <a:bodyPr wrap="square">
            <a:spAutoFit/>
          </a:bodyPr>
          <a:lstStyle/>
          <a:p>
            <a:pPr>
              <a:spcAft>
                <a:spcPts val="200"/>
              </a:spcAft>
              <a:defRPr sz="1100" b="1">
                <a:solidFill>
                  <a:srgbClr val="F59E0B"/>
                </a:solidFill>
              </a:defRPr>
            </a:pPr>
            <a:r>
              <a:t>🎯 Counter-Question: 'Why 45%, 30%, and 25%? How were these weights determined?'</a:t>
            </a:r>
          </a:p>
          <a:p>
            <a:pPr>
              <a:defRPr sz="950">
                <a:solidFill>
                  <a:srgbClr val="F8FAFC"/>
                </a:solidFill>
              </a:defRPr>
            </a:pPr>
            <a:r>
              <a:t>Answer: Derived from fleet operations priority: battery safety is non-negotiable (45%), followed by hard departure deadlines (30%), with session slack acting as the tie-breaker (25%).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10728655"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728655" cy="320040"/>
          </a:xfrm>
          <a:prstGeom prst="rect">
            <a:avLst/>
          </a:prstGeom>
          <a:noFill/>
        </p:spPr>
        <p:txBody>
          <a:bodyPr wrap="square">
            <a:spAutoFit/>
          </a:bodyPr>
          <a:lstStyle/>
          <a:p>
            <a:pPr>
              <a:defRPr sz="1000" b="1">
                <a:solidFill>
                  <a:srgbClr val="10B981"/>
                </a:solidFill>
              </a:defRPr>
            </a:pPr>
            <a:r>
              <a:t>OPTIMIZATION STRATEGY</a:t>
            </a:r>
          </a:p>
        </p:txBody>
      </p:sp>
      <p:sp>
        <p:nvSpPr>
          <p:cNvPr id="5" name="TextBox 4"/>
          <p:cNvSpPr txBox="1"/>
          <p:nvPr/>
        </p:nvSpPr>
        <p:spPr>
          <a:xfrm>
            <a:off x="731520" y="777240"/>
            <a:ext cx="10728655" cy="685800"/>
          </a:xfrm>
          <a:prstGeom prst="rect">
            <a:avLst/>
          </a:prstGeom>
          <a:noFill/>
        </p:spPr>
        <p:txBody>
          <a:bodyPr wrap="square">
            <a:spAutoFit/>
          </a:bodyPr>
          <a:lstStyle/>
          <a:p>
            <a:pPr>
              <a:defRPr sz="2200" b="1">
                <a:solidFill>
                  <a:srgbClr val="F8FAFC"/>
                </a:solidFill>
              </a:defRPr>
            </a:pPr>
            <a:r>
              <a:t>Candidate Slot Scoring &amp; Decision Policy Weights</a:t>
            </a:r>
          </a:p>
        </p:txBody>
      </p:sp>
      <p:sp>
        <p:nvSpPr>
          <p:cNvPr id="6" name="Rounded Rectangle 5"/>
          <p:cNvSpPr/>
          <p:nvPr/>
        </p:nvSpPr>
        <p:spPr>
          <a:xfrm>
            <a:off x="731520" y="1554480"/>
            <a:ext cx="5212080" cy="39319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91639"/>
            <a:ext cx="4846320" cy="3657600"/>
          </a:xfrm>
          <a:prstGeom prst="rect">
            <a:avLst/>
          </a:prstGeom>
          <a:noFill/>
        </p:spPr>
        <p:txBody>
          <a:bodyPr wrap="square">
            <a:spAutoFit/>
          </a:bodyPr>
          <a:lstStyle/>
          <a:p>
            <a:pPr>
              <a:spcAft>
                <a:spcPts val="600"/>
              </a:spcAft>
              <a:defRPr sz="1400" b="1">
                <a:solidFill>
                  <a:srgbClr val="F59E0B"/>
                </a:solidFill>
              </a:defRPr>
            </a:pPr>
            <a:r>
              <a:t>Candidate Slot Scoring Mechanics</a:t>
            </a:r>
          </a:p>
          <a:p>
            <a:pPr>
              <a:spcAft>
                <a:spcPts val="350"/>
              </a:spcAft>
              <a:defRPr sz="1050">
                <a:solidFill>
                  <a:srgbClr val="F8FAFC"/>
                </a:solidFill>
              </a:defRPr>
            </a:pPr>
            <a:r>
              <a:t>• For each vehicle, the Executor Agent evaluates all feasible (charger, start_slot) windows.</a:t>
            </a:r>
          </a:p>
          <a:p>
            <a:pPr>
              <a:spcAft>
                <a:spcPts val="350"/>
              </a:spcAft>
              <a:defRPr sz="1050">
                <a:solidFill>
                  <a:srgbClr val="F8FAFC"/>
                </a:solidFill>
              </a:defRPr>
            </a:pPr>
            <a:r>
              <a:t>• Score Formula (Lower is Better):</a:t>
            </a:r>
          </a:p>
          <a:p>
            <a:pPr>
              <a:spcAft>
                <a:spcPts val="350"/>
              </a:spcAft>
              <a:defRPr sz="1050">
                <a:solidFill>
                  <a:srgbClr val="F8FAFC"/>
                </a:solidFill>
              </a:defRPr>
            </a:pPr>
            <a:r>
              <a:t>•   Score = PriceComponent + WaitComponent - UrgencyBonus</a:t>
            </a:r>
          </a:p>
          <a:p>
            <a:pPr>
              <a:spcAft>
                <a:spcPts val="350"/>
              </a:spcAft>
              <a:defRPr sz="1050">
                <a:solidFill>
                  <a:srgbClr val="F8FAFC"/>
                </a:solidFill>
              </a:defRPr>
            </a:pPr>
            <a:r>
              <a:t>• Where:</a:t>
            </a:r>
          </a:p>
          <a:p>
            <a:pPr>
              <a:spcAft>
                <a:spcPts val="350"/>
              </a:spcAft>
              <a:defRPr sz="1050">
                <a:solidFill>
                  <a:srgbClr val="F8FAFC"/>
                </a:solidFill>
              </a:defRPr>
            </a:pPr>
            <a:r>
              <a:t>•   • PriceComponent = (AvgPrice / 12.0) * PriceWeight</a:t>
            </a:r>
          </a:p>
          <a:p>
            <a:pPr>
              <a:spcAft>
                <a:spcPts val="350"/>
              </a:spcAft>
              <a:defRPr sz="1050">
                <a:solidFill>
                  <a:srgbClr val="F8FAFC"/>
                </a:solidFill>
              </a:defRPr>
            </a:pPr>
            <a:r>
              <a:t>•   • WaitComponent = (WaitSlots / AvailableWindow) * WaitWeight</a:t>
            </a:r>
          </a:p>
          <a:p>
            <a:pPr>
              <a:spcAft>
                <a:spcPts val="350"/>
              </a:spcAft>
              <a:defRPr sz="1050">
                <a:solidFill>
                  <a:srgbClr val="F8FAFC"/>
                </a:solidFill>
              </a:defRPr>
            </a:pPr>
            <a:r>
              <a:t>•   • UrgencyBonus = Urgency * UrgencyWeight * (1 / (1 + DeadlineSlack))</a:t>
            </a:r>
          </a:p>
          <a:p>
            <a:pPr>
              <a:spcAft>
                <a:spcPts val="350"/>
              </a:spcAft>
              <a:defRPr sz="1050">
                <a:solidFill>
                  <a:srgbClr val="F8FAFC"/>
                </a:solidFill>
              </a:defRPr>
            </a:pPr>
            <a:r>
              <a:t>• The slot window minimizing the Score is allocated.</a:t>
            </a:r>
          </a:p>
        </p:txBody>
      </p:sp>
      <p:sp>
        <p:nvSpPr>
          <p:cNvPr id="8" name="Rounded Rectangle 7"/>
          <p:cNvSpPr/>
          <p:nvPr/>
        </p:nvSpPr>
        <p:spPr>
          <a:xfrm>
            <a:off x="6217920" y="1554480"/>
            <a:ext cx="5212080" cy="39319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91639"/>
            <a:ext cx="4846320" cy="3657600"/>
          </a:xfrm>
          <a:prstGeom prst="rect">
            <a:avLst/>
          </a:prstGeom>
          <a:noFill/>
        </p:spPr>
        <p:txBody>
          <a:bodyPr wrap="square">
            <a:spAutoFit/>
          </a:bodyPr>
          <a:lstStyle/>
          <a:p>
            <a:pPr>
              <a:spcAft>
                <a:spcPts val="600"/>
              </a:spcAft>
              <a:defRPr sz="1400" b="1">
                <a:solidFill>
                  <a:srgbClr val="38BDF8"/>
                </a:solidFill>
              </a:defRPr>
            </a:pPr>
            <a:r>
              <a:t>How the 3 Policies Shift Agent Priorities</a:t>
            </a:r>
          </a:p>
          <a:p>
            <a:pPr>
              <a:spcAft>
                <a:spcPts val="350"/>
              </a:spcAft>
              <a:defRPr sz="1050">
                <a:solidFill>
                  <a:srgbClr val="F8FAFC"/>
                </a:solidFill>
              </a:defRPr>
            </a:pPr>
            <a:r>
              <a:t>• 1. Balanced Policy (Standard Default):</a:t>
            </a:r>
          </a:p>
          <a:p>
            <a:pPr>
              <a:spcAft>
                <a:spcPts val="350"/>
              </a:spcAft>
              <a:defRPr sz="1050">
                <a:solidFill>
                  <a:srgbClr val="F8FAFC"/>
                </a:solidFill>
              </a:defRPr>
            </a:pPr>
            <a:r>
              <a:t>•    • Weights: Price=1.0, Wait=0.55, Urgency=1.8</a:t>
            </a:r>
          </a:p>
          <a:p>
            <a:pPr>
              <a:spcAft>
                <a:spcPts val="350"/>
              </a:spcAft>
              <a:defRPr sz="1050">
                <a:solidFill>
                  <a:srgbClr val="F8FAFC"/>
                </a:solidFill>
              </a:defRPr>
            </a:pPr>
            <a:r>
              <a:t>•    • Balances off-peak savings with prompt vehicle turnaround.</a:t>
            </a:r>
          </a:p>
          <a:p>
            <a:pPr>
              <a:spcAft>
                <a:spcPts val="350"/>
              </a:spcAft>
              <a:defRPr sz="1050">
                <a:solidFill>
                  <a:srgbClr val="F8FAFC"/>
                </a:solidFill>
              </a:defRPr>
            </a:pPr>
            <a:r>
              <a:t>• 2. Cost Saver Policy (Economy Mode):</a:t>
            </a:r>
          </a:p>
          <a:p>
            <a:pPr>
              <a:spcAft>
                <a:spcPts val="350"/>
              </a:spcAft>
              <a:defRPr sz="1050">
                <a:solidFill>
                  <a:srgbClr val="F8FAFC"/>
                </a:solidFill>
              </a:defRPr>
            </a:pPr>
            <a:r>
              <a:t>•    • Weights: Price=1.8, Wait=0.20, Urgency=0.45</a:t>
            </a:r>
          </a:p>
          <a:p>
            <a:pPr>
              <a:spcAft>
                <a:spcPts val="350"/>
              </a:spcAft>
              <a:defRPr sz="1050">
                <a:solidFill>
                  <a:srgbClr val="F8FAFC"/>
                </a:solidFill>
              </a:defRPr>
            </a:pPr>
            <a:r>
              <a:t>•    • Heavily penalizes peak slots (₹11.00); shifts sessions to off-peak (₹6.80).</a:t>
            </a:r>
          </a:p>
          <a:p>
            <a:pPr>
              <a:spcAft>
                <a:spcPts val="350"/>
              </a:spcAft>
              <a:defRPr sz="1050">
                <a:solidFill>
                  <a:srgbClr val="F8FAFC"/>
                </a:solidFill>
              </a:defRPr>
            </a:pPr>
            <a:r>
              <a:t>• 3. Urgent First Policy (Emergency / Rush Mode):</a:t>
            </a:r>
          </a:p>
          <a:p>
            <a:pPr>
              <a:spcAft>
                <a:spcPts val="350"/>
              </a:spcAft>
              <a:defRPr sz="1050">
                <a:solidFill>
                  <a:srgbClr val="F8FAFC"/>
                </a:solidFill>
              </a:defRPr>
            </a:pPr>
            <a:r>
              <a:t>•    • Weights: Price=0.45, Wait=0.15, Urgency=3.2</a:t>
            </a:r>
          </a:p>
          <a:p>
            <a:pPr>
              <a:spcAft>
                <a:spcPts val="350"/>
              </a:spcAft>
              <a:defRPr sz="1050">
                <a:solidFill>
                  <a:srgbClr val="F8FAFC"/>
                </a:solidFill>
              </a:defRPr>
            </a:pPr>
            <a:r>
              <a:t>•    • Charges low SoC vehicles immediately, ignoring peak price surges.</a:t>
            </a:r>
          </a:p>
        </p:txBody>
      </p:sp>
      <p:sp>
        <p:nvSpPr>
          <p:cNvPr id="10" name="Rounded Rectangle 9"/>
          <p:cNvSpPr/>
          <p:nvPr/>
        </p:nvSpPr>
        <p:spPr>
          <a:xfrm>
            <a:off x="731520" y="5577840"/>
            <a:ext cx="10698480" cy="868680"/>
          </a:xfrm>
          <a:prstGeom prst="roundRect">
            <a:avLst/>
          </a:prstGeom>
          <a:solidFill>
            <a:srgbClr val="18202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650992"/>
            <a:ext cx="10424159" cy="722375"/>
          </a:xfrm>
          <a:prstGeom prst="rect">
            <a:avLst/>
          </a:prstGeom>
          <a:noFill/>
        </p:spPr>
        <p:txBody>
          <a:bodyPr wrap="square">
            <a:spAutoFit/>
          </a:bodyPr>
          <a:lstStyle/>
          <a:p>
            <a:pPr>
              <a:spcAft>
                <a:spcPts val="200"/>
              </a:spcAft>
              <a:defRPr sz="1100" b="1">
                <a:solidFill>
                  <a:srgbClr val="F59E0B"/>
                </a:solidFill>
              </a:defRPr>
            </a:pPr>
            <a:r>
              <a:t>💡 Counter-Question: 'Why use greedy heuristic allocation instead of a full MILP solver?'</a:t>
            </a:r>
          </a:p>
          <a:p>
            <a:pPr>
              <a:defRPr sz="950">
                <a:solidFill>
                  <a:srgbClr val="F8FAFC"/>
                </a:solidFill>
              </a:defRPr>
            </a:pPr>
            <a:r>
              <a:t>Answer: Real-world EV hubs need real-time, dynamic scheduling as vehicles arrive unexpectedly. Greedy priority allocation runs in O(N*C*S) time (~5ms), making it lightning fast and easily explainable without heavy proprietary solver licenses (e.g. Gurobi/CPLEX).</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10728655"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728655" cy="320040"/>
          </a:xfrm>
          <a:prstGeom prst="rect">
            <a:avLst/>
          </a:prstGeom>
          <a:noFill/>
        </p:spPr>
        <p:txBody>
          <a:bodyPr wrap="square">
            <a:spAutoFit/>
          </a:bodyPr>
          <a:lstStyle/>
          <a:p>
            <a:pPr>
              <a:defRPr sz="1000" b="1">
                <a:solidFill>
                  <a:srgbClr val="10B981"/>
                </a:solidFill>
              </a:defRPr>
            </a:pPr>
            <a:r>
              <a:t>SAFETY &amp; VERIFICATION</a:t>
            </a:r>
          </a:p>
        </p:txBody>
      </p:sp>
      <p:sp>
        <p:nvSpPr>
          <p:cNvPr id="5" name="TextBox 4"/>
          <p:cNvSpPr txBox="1"/>
          <p:nvPr/>
        </p:nvSpPr>
        <p:spPr>
          <a:xfrm>
            <a:off x="731520" y="777240"/>
            <a:ext cx="10728655" cy="685800"/>
          </a:xfrm>
          <a:prstGeom prst="rect">
            <a:avLst/>
          </a:prstGeom>
          <a:noFill/>
        </p:spPr>
        <p:txBody>
          <a:bodyPr wrap="square">
            <a:spAutoFit/>
          </a:bodyPr>
          <a:lstStyle/>
          <a:p>
            <a:pPr>
              <a:defRPr sz="2200" b="1">
                <a:solidFill>
                  <a:srgbClr val="F8FAFC"/>
                </a:solidFill>
              </a:defRPr>
            </a:pPr>
            <a:r>
              <a:t>The Critic Agent: Zero-Trust Constraint Validation</a:t>
            </a:r>
          </a:p>
        </p:txBody>
      </p:sp>
      <p:sp>
        <p:nvSpPr>
          <p:cNvPr id="6" name="Rounded Rectangle 5"/>
          <p:cNvSpPr/>
          <p:nvPr/>
        </p:nvSpPr>
        <p:spPr>
          <a:xfrm>
            <a:off x="731520" y="1554480"/>
            <a:ext cx="5212080" cy="3931920"/>
          </a:xfrm>
          <a:prstGeom prst="roundRect">
            <a:avLst/>
          </a:prstGeom>
          <a:solidFill>
            <a:srgbClr val="1E293B"/>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91639"/>
            <a:ext cx="4846320" cy="3657600"/>
          </a:xfrm>
          <a:prstGeom prst="rect">
            <a:avLst/>
          </a:prstGeom>
          <a:noFill/>
        </p:spPr>
        <p:txBody>
          <a:bodyPr wrap="square">
            <a:spAutoFit/>
          </a:bodyPr>
          <a:lstStyle/>
          <a:p>
            <a:pPr>
              <a:spcAft>
                <a:spcPts val="600"/>
              </a:spcAft>
              <a:defRPr sz="1400" b="1">
                <a:solidFill>
                  <a:srgbClr val="F43F5E"/>
                </a:solidFill>
              </a:defRPr>
            </a:pPr>
            <a:r>
              <a:t>The 6 Hard Physical Constraints Checked</a:t>
            </a:r>
          </a:p>
          <a:p>
            <a:pPr>
              <a:spcAft>
                <a:spcPts val="350"/>
              </a:spcAft>
              <a:defRPr sz="1050">
                <a:solidFill>
                  <a:srgbClr val="F8FAFC"/>
                </a:solidFill>
              </a:defRPr>
            </a:pPr>
            <a:r>
              <a:t>• 1. Charger Exclusivity: Max 1 EV per charger in any 30-min slot (no physical overlap).</a:t>
            </a:r>
          </a:p>
          <a:p>
            <a:pPr>
              <a:spcAft>
                <a:spcPts val="350"/>
              </a:spcAft>
              <a:defRPr sz="1050">
                <a:solidFill>
                  <a:srgbClr val="F8FAFC"/>
                </a:solidFill>
              </a:defRPr>
            </a:pPr>
            <a:r>
              <a:t>• 2. Vehicle Exclusivity: No vehicle can charge at two bays simultaneously.</a:t>
            </a:r>
          </a:p>
          <a:p>
            <a:pPr>
              <a:spcAft>
                <a:spcPts val="350"/>
              </a:spcAft>
              <a:defRPr sz="1050">
                <a:solidFill>
                  <a:srgbClr val="F8FAFC"/>
                </a:solidFill>
              </a:defRPr>
            </a:pPr>
            <a:r>
              <a:t>• 3. Arrival Bound: No charging slot is assigned prior to vehicle arrival.</a:t>
            </a:r>
          </a:p>
          <a:p>
            <a:pPr>
              <a:spcAft>
                <a:spcPts val="350"/>
              </a:spcAft>
              <a:defRPr sz="1050">
                <a:solidFill>
                  <a:srgbClr val="F8FAFC"/>
                </a:solidFill>
              </a:defRPr>
            </a:pPr>
            <a:r>
              <a:t>• 4. Departure Deadline: No charging slot is assigned at or after departure.</a:t>
            </a:r>
          </a:p>
          <a:p>
            <a:pPr>
              <a:spcAft>
                <a:spcPts val="350"/>
              </a:spcAft>
              <a:defRPr sz="1050">
                <a:solidFill>
                  <a:srgbClr val="F8FAFC"/>
                </a:solidFill>
              </a:defRPr>
            </a:pPr>
            <a:r>
              <a:t>• 5. Power Intake Rating: Assigned power (kW) &lt;= vehicle's configured hardware limit.</a:t>
            </a:r>
          </a:p>
          <a:p>
            <a:pPr>
              <a:spcAft>
                <a:spcPts val="350"/>
              </a:spcAft>
              <a:defRPr sz="1050">
                <a:solidFill>
                  <a:srgbClr val="F8FAFC"/>
                </a:solidFill>
              </a:defRPr>
            </a:pPr>
            <a:r>
              <a:t>• 6. Planning Horizon: All slots strictly within station horizon (0 to N-1).</a:t>
            </a:r>
          </a:p>
        </p:txBody>
      </p:sp>
      <p:sp>
        <p:nvSpPr>
          <p:cNvPr id="8" name="Rounded Rectangle 7"/>
          <p:cNvSpPr/>
          <p:nvPr/>
        </p:nvSpPr>
        <p:spPr>
          <a:xfrm>
            <a:off x="6217920" y="1554480"/>
            <a:ext cx="5212080" cy="39319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91639"/>
            <a:ext cx="4846320" cy="3657600"/>
          </a:xfrm>
          <a:prstGeom prst="rect">
            <a:avLst/>
          </a:prstGeom>
          <a:noFill/>
        </p:spPr>
        <p:txBody>
          <a:bodyPr wrap="square">
            <a:spAutoFit/>
          </a:bodyPr>
          <a:lstStyle/>
          <a:p>
            <a:pPr>
              <a:spcAft>
                <a:spcPts val="600"/>
              </a:spcAft>
              <a:defRPr sz="1400" b="1">
                <a:solidFill>
                  <a:srgbClr val="10B981"/>
                </a:solidFill>
              </a:defRPr>
            </a:pPr>
            <a:r>
              <a:t>Why Decouple the Critic from the Planner?</a:t>
            </a:r>
          </a:p>
          <a:p>
            <a:pPr>
              <a:spcAft>
                <a:spcPts val="350"/>
              </a:spcAft>
              <a:defRPr sz="1050">
                <a:solidFill>
                  <a:srgbClr val="F8FAFC"/>
                </a:solidFill>
              </a:defRPr>
            </a:pPr>
            <a:r>
              <a:t>• Zero-Trust Safety: The Planner uses heuristics that could theoretically have bugs or edge-case oversights. The Critic provides a hard mathematical barrier.</a:t>
            </a:r>
          </a:p>
          <a:p>
            <a:pPr>
              <a:spcAft>
                <a:spcPts val="350"/>
              </a:spcAft>
              <a:defRPr sz="1050">
                <a:solidFill>
                  <a:srgbClr val="F8FAFC"/>
                </a:solidFill>
              </a:defRPr>
            </a:pPr>
            <a:r>
              <a:t>• Detailed Diagnostics: The Critic outputs exact error strings ('Charger conflict at Slot 2') so the Coordinator knows precisely why a plan failed.</a:t>
            </a:r>
          </a:p>
          <a:p>
            <a:pPr>
              <a:spcAft>
                <a:spcPts val="350"/>
              </a:spcAft>
              <a:defRPr sz="1050">
                <a:solidFill>
                  <a:srgbClr val="F8FAFC"/>
                </a:solidFill>
              </a:defRPr>
            </a:pPr>
            <a:r>
              <a:t>• Regulatory Compliance: In real energy grids, physical safety rules are non-negotiable. An agent must never be permitted to approve its own homework.</a:t>
            </a:r>
          </a:p>
          <a:p>
            <a:pPr>
              <a:spcAft>
                <a:spcPts val="350"/>
              </a:spcAft>
              <a:defRPr sz="1050">
                <a:solidFill>
                  <a:srgbClr val="F8FAFC"/>
                </a:solidFill>
              </a:defRPr>
            </a:pPr>
            <a:r>
              <a:t>• Capacity Advisories: If an EV cannot fit its full requested charge, Critic emits an informative warning while preserving schedule validity.</a:t>
            </a:r>
          </a:p>
        </p:txBody>
      </p:sp>
      <p:sp>
        <p:nvSpPr>
          <p:cNvPr id="10" name="Rounded Rectangle 9"/>
          <p:cNvSpPr/>
          <p:nvPr/>
        </p:nvSpPr>
        <p:spPr>
          <a:xfrm>
            <a:off x="731520" y="5577840"/>
            <a:ext cx="10698480" cy="868680"/>
          </a:xfrm>
          <a:prstGeom prst="roundRect">
            <a:avLst/>
          </a:prstGeom>
          <a:solidFill>
            <a:srgbClr val="18202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650992"/>
            <a:ext cx="10424159" cy="722375"/>
          </a:xfrm>
          <a:prstGeom prst="rect">
            <a:avLst/>
          </a:prstGeom>
          <a:noFill/>
        </p:spPr>
        <p:txBody>
          <a:bodyPr wrap="square">
            <a:spAutoFit/>
          </a:bodyPr>
          <a:lstStyle/>
          <a:p>
            <a:pPr>
              <a:spcAft>
                <a:spcPts val="200"/>
              </a:spcAft>
              <a:defRPr sz="1100" b="1">
                <a:solidFill>
                  <a:srgbClr val="F59E0B"/>
                </a:solidFill>
              </a:defRPr>
            </a:pPr>
            <a:r>
              <a:t>🎯 Counter-Question: 'What is the difference between an Error and a Warning in the Critic?'</a:t>
            </a:r>
          </a:p>
          <a:p>
            <a:pPr>
              <a:defRPr sz="950">
                <a:solidFill>
                  <a:srgbClr val="F8FAFC"/>
                </a:solidFill>
              </a:defRPr>
            </a:pPr>
            <a:r>
              <a:t>Answer: An Error violates physical safety (e.g., two cars on one plug) and triggers a REJECT + Replan. A Warning indicates capacity bottleneck (e.g. EV received 80% instead of 100% due to short stay) but maintains schedule integrity.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10728655"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728655" cy="320040"/>
          </a:xfrm>
          <a:prstGeom prst="rect">
            <a:avLst/>
          </a:prstGeom>
          <a:noFill/>
        </p:spPr>
        <p:txBody>
          <a:bodyPr wrap="square">
            <a:spAutoFit/>
          </a:bodyPr>
          <a:lstStyle/>
          <a:p>
            <a:pPr>
              <a:defRPr sz="1000" b="1">
                <a:solidFill>
                  <a:srgbClr val="10B981"/>
                </a:solidFill>
              </a:defRPr>
            </a:pPr>
            <a:r>
              <a:t>AGENTIC REFLECTION &amp; RECOVERY</a:t>
            </a:r>
          </a:p>
        </p:txBody>
      </p:sp>
      <p:sp>
        <p:nvSpPr>
          <p:cNvPr id="5" name="TextBox 4"/>
          <p:cNvSpPr txBox="1"/>
          <p:nvPr/>
        </p:nvSpPr>
        <p:spPr>
          <a:xfrm>
            <a:off x="731520" y="777240"/>
            <a:ext cx="10728655" cy="685800"/>
          </a:xfrm>
          <a:prstGeom prst="rect">
            <a:avLst/>
          </a:prstGeom>
          <a:noFill/>
        </p:spPr>
        <p:txBody>
          <a:bodyPr wrap="square">
            <a:spAutoFit/>
          </a:bodyPr>
          <a:lstStyle/>
          <a:p>
            <a:pPr>
              <a:defRPr sz="2200" b="1">
                <a:solidFill>
                  <a:srgbClr val="F8FAFC"/>
                </a:solidFill>
              </a:defRPr>
            </a:pPr>
            <a:r>
              <a:t>Closed-Loop Self-Healing &amp; Replanning Mechanics</a:t>
            </a:r>
          </a:p>
        </p:txBody>
      </p:sp>
      <p:sp>
        <p:nvSpPr>
          <p:cNvPr id="6" name="Rounded Rectangle 5"/>
          <p:cNvSpPr/>
          <p:nvPr/>
        </p:nvSpPr>
        <p:spPr>
          <a:xfrm>
            <a:off x="731520" y="1554480"/>
            <a:ext cx="5212080" cy="39319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91639"/>
            <a:ext cx="4846320" cy="3657600"/>
          </a:xfrm>
          <a:prstGeom prst="rect">
            <a:avLst/>
          </a:prstGeom>
          <a:noFill/>
        </p:spPr>
        <p:txBody>
          <a:bodyPr wrap="square">
            <a:spAutoFit/>
          </a:bodyPr>
          <a:lstStyle/>
          <a:p>
            <a:pPr>
              <a:spcAft>
                <a:spcPts val="600"/>
              </a:spcAft>
              <a:defRPr sz="1400" b="1">
                <a:solidFill>
                  <a:srgbClr val="10B981"/>
                </a:solidFill>
              </a:defRPr>
            </a:pPr>
            <a:r>
              <a:t>The Autonomous Replanning Workflow</a:t>
            </a:r>
          </a:p>
          <a:p>
            <a:pPr>
              <a:spcAft>
                <a:spcPts val="350"/>
              </a:spcAft>
              <a:defRPr sz="1050">
                <a:solidFill>
                  <a:srgbClr val="F8FAFC"/>
                </a:solidFill>
              </a:defRPr>
            </a:pPr>
            <a:r>
              <a:t>• Step 1: Planner Agent coordinates Attempt 1 to build a draft dispatch schedule.</a:t>
            </a:r>
          </a:p>
          <a:p>
            <a:pPr>
              <a:spcAft>
                <a:spcPts val="350"/>
              </a:spcAft>
              <a:defRPr sz="1050">
                <a:solidFill>
                  <a:srgbClr val="F8FAFC"/>
                </a:solidFill>
              </a:defRPr>
            </a:pPr>
            <a:r>
              <a:t>• Step 2: Critic Agent independently validates all 6 constraints.</a:t>
            </a:r>
          </a:p>
          <a:p>
            <a:pPr>
              <a:spcAft>
                <a:spcPts val="350"/>
              </a:spcAft>
              <a:defRPr sz="1050">
                <a:solidFill>
                  <a:srgbClr val="F8FAFC"/>
                </a:solidFill>
              </a:defRPr>
            </a:pPr>
            <a:r>
              <a:t>• Step 3 (Conditional Branch):</a:t>
            </a:r>
          </a:p>
          <a:p>
            <a:pPr>
              <a:spcAft>
                <a:spcPts val="350"/>
              </a:spcAft>
              <a:defRPr sz="1050">
                <a:solidFill>
                  <a:srgbClr val="F8FAFC"/>
                </a:solidFill>
              </a:defRPr>
            </a:pPr>
            <a:r>
              <a:t>•    • If PASS: Finalize schedule, compute KPIs, and export to dashboard.</a:t>
            </a:r>
          </a:p>
          <a:p>
            <a:pPr>
              <a:spcAft>
                <a:spcPts val="350"/>
              </a:spcAft>
              <a:defRPr sz="1050">
                <a:solidFill>
                  <a:srgbClr val="F8FAFC"/>
                </a:solidFill>
              </a:defRPr>
            </a:pPr>
            <a:r>
              <a:t>•    • If REJECT: Coordinator catches the failure signal and triggers Attempt 2.</a:t>
            </a:r>
          </a:p>
          <a:p>
            <a:pPr>
              <a:spcAft>
                <a:spcPts val="350"/>
              </a:spcAft>
              <a:defRPr sz="1050">
                <a:solidFill>
                  <a:srgbClr val="F8FAFC"/>
                </a:solidFill>
              </a:defRPr>
            </a:pPr>
            <a:r>
              <a:t>• Step 4: Re-prioritizes allocations, purges conflict state, and produces a clean schedule.</a:t>
            </a:r>
          </a:p>
          <a:p>
            <a:pPr>
              <a:spcAft>
                <a:spcPts val="350"/>
              </a:spcAft>
              <a:defRPr sz="1050">
                <a:solidFill>
                  <a:srgbClr val="F8FAFC"/>
                </a:solidFill>
              </a:defRPr>
            </a:pPr>
            <a:r>
              <a:t>• Step 5: Critic audits Attempt 2. Result is certified conflict-free.</a:t>
            </a:r>
          </a:p>
        </p:txBody>
      </p:sp>
      <p:sp>
        <p:nvSpPr>
          <p:cNvPr id="8" name="Rounded Rectangle 7"/>
          <p:cNvSpPr/>
          <p:nvPr/>
        </p:nvSpPr>
        <p:spPr>
          <a:xfrm>
            <a:off x="6217920" y="1554480"/>
            <a:ext cx="5212080" cy="39319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91639"/>
            <a:ext cx="4846320" cy="3657600"/>
          </a:xfrm>
          <a:prstGeom prst="rect">
            <a:avLst/>
          </a:prstGeom>
          <a:noFill/>
        </p:spPr>
        <p:txBody>
          <a:bodyPr wrap="square">
            <a:spAutoFit/>
          </a:bodyPr>
          <a:lstStyle/>
          <a:p>
            <a:pPr>
              <a:spcAft>
                <a:spcPts val="600"/>
              </a:spcAft>
              <a:defRPr sz="1400" b="1">
                <a:solidFill>
                  <a:srgbClr val="F59E0B"/>
                </a:solidFill>
              </a:defRPr>
            </a:pPr>
            <a:r>
              <a:t>The '🧪 Demo Rejection + Replan' Feature</a:t>
            </a:r>
          </a:p>
          <a:p>
            <a:pPr>
              <a:spcAft>
                <a:spcPts val="350"/>
              </a:spcAft>
              <a:defRPr sz="1050">
                <a:solidFill>
                  <a:srgbClr val="F8FAFC"/>
                </a:solidFill>
              </a:defRPr>
            </a:pPr>
            <a:r>
              <a:t>• Why It Was Built: To visibly prove to evaluators that this is a true self-healing agentic workflow, not a hardcoded linear script.</a:t>
            </a:r>
          </a:p>
          <a:p>
            <a:pPr>
              <a:spcAft>
                <a:spcPts val="350"/>
              </a:spcAft>
              <a:defRPr sz="1050">
                <a:solidFill>
                  <a:srgbClr val="F8FAFC"/>
                </a:solidFill>
              </a:defRPr>
            </a:pPr>
            <a:r>
              <a:t>• What Happens When Clicked:</a:t>
            </a:r>
          </a:p>
          <a:p>
            <a:pPr>
              <a:spcAft>
                <a:spcPts val="350"/>
              </a:spcAft>
              <a:defRPr sz="1050">
                <a:solidFill>
                  <a:srgbClr val="F8FAFC"/>
                </a:solidFill>
              </a:defRPr>
            </a:pPr>
            <a:r>
              <a:t>•    1. Attempt 1 intentionally injects a synthetic charger collision.</a:t>
            </a:r>
          </a:p>
          <a:p>
            <a:pPr>
              <a:spcAft>
                <a:spcPts val="350"/>
              </a:spcAft>
              <a:defRPr sz="1050">
                <a:solidFill>
                  <a:srgbClr val="F8FAFC"/>
                </a:solidFill>
              </a:defRPr>
            </a:pPr>
            <a:r>
              <a:t>•    2. Critic Agent catches the double-booking, logs REJECT with conflict details.</a:t>
            </a:r>
          </a:p>
          <a:p>
            <a:pPr>
              <a:spcAft>
                <a:spcPts val="350"/>
              </a:spcAft>
              <a:defRPr sz="1050">
                <a:solidFill>
                  <a:srgbClr val="F8FAFC"/>
                </a:solidFill>
              </a:defRPr>
            </a:pPr>
            <a:r>
              <a:t>•    3. Coordinator automatically triggers Replanning Attempt 2.</a:t>
            </a:r>
          </a:p>
          <a:p>
            <a:pPr>
              <a:spcAft>
                <a:spcPts val="350"/>
              </a:spcAft>
              <a:defRPr sz="1050">
                <a:solidFill>
                  <a:srgbClr val="F8FAFC"/>
                </a:solidFill>
              </a:defRPr>
            </a:pPr>
            <a:r>
              <a:t>•    4. Attempt 2 builds a clean, 100% validated conflict-free schedule.</a:t>
            </a:r>
          </a:p>
          <a:p>
            <a:pPr>
              <a:spcAft>
                <a:spcPts val="350"/>
              </a:spcAft>
              <a:defRPr sz="1050">
                <a:solidFill>
                  <a:srgbClr val="F8FAFC"/>
                </a:solidFill>
              </a:defRPr>
            </a:pPr>
            <a:r>
              <a:t>•    5. Dashboard metrics display: 'Validation: PASS (2 attempts)'.</a:t>
            </a:r>
          </a:p>
        </p:txBody>
      </p:sp>
      <p:sp>
        <p:nvSpPr>
          <p:cNvPr id="10" name="Rounded Rectangle 9"/>
          <p:cNvSpPr/>
          <p:nvPr/>
        </p:nvSpPr>
        <p:spPr>
          <a:xfrm>
            <a:off x="731520" y="5577840"/>
            <a:ext cx="10698480" cy="868680"/>
          </a:xfrm>
          <a:prstGeom prst="roundRect">
            <a:avLst/>
          </a:prstGeom>
          <a:solidFill>
            <a:srgbClr val="18202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650992"/>
            <a:ext cx="10424159" cy="722375"/>
          </a:xfrm>
          <a:prstGeom prst="rect">
            <a:avLst/>
          </a:prstGeom>
          <a:noFill/>
        </p:spPr>
        <p:txBody>
          <a:bodyPr wrap="square">
            <a:spAutoFit/>
          </a:bodyPr>
          <a:lstStyle/>
          <a:p>
            <a:pPr>
              <a:spcAft>
                <a:spcPts val="200"/>
              </a:spcAft>
              <a:defRPr sz="1100" b="1">
                <a:solidFill>
                  <a:srgbClr val="F59E0B"/>
                </a:solidFill>
              </a:defRPr>
            </a:pPr>
            <a:r>
              <a:t>💡 Counter-Question: 'Why does replanning succeed on Attempt 2 in the demo?'</a:t>
            </a:r>
          </a:p>
          <a:p>
            <a:pPr>
              <a:defRPr sz="950">
                <a:solidFill>
                  <a:srgbClr val="F8FAFC"/>
                </a:solidFill>
              </a:defRPr>
            </a:pPr>
            <a:r>
              <a:t>Answer: Because the synthetic conflict was injected only into Attempt 1's draft. The replan loop regenerates the schedule using clean algorithmic priority rules, proving the coordinator's ability to recover autonomously.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10728655"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728655" cy="320040"/>
          </a:xfrm>
          <a:prstGeom prst="rect">
            <a:avLst/>
          </a:prstGeom>
          <a:noFill/>
        </p:spPr>
        <p:txBody>
          <a:bodyPr wrap="square">
            <a:spAutoFit/>
          </a:bodyPr>
          <a:lstStyle/>
          <a:p>
            <a:pPr>
              <a:defRPr sz="1000" b="1">
                <a:solidFill>
                  <a:srgbClr val="10B981"/>
                </a:solidFill>
              </a:defRPr>
            </a:pPr>
            <a:r>
              <a:t>ENTERPRISE AI SAFETY</a:t>
            </a:r>
          </a:p>
        </p:txBody>
      </p:sp>
      <p:sp>
        <p:nvSpPr>
          <p:cNvPr id="5" name="TextBox 4"/>
          <p:cNvSpPr txBox="1"/>
          <p:nvPr/>
        </p:nvSpPr>
        <p:spPr>
          <a:xfrm>
            <a:off x="731520" y="777240"/>
            <a:ext cx="10728655" cy="685800"/>
          </a:xfrm>
          <a:prstGeom prst="rect">
            <a:avLst/>
          </a:prstGeom>
          <a:noFill/>
        </p:spPr>
        <p:txBody>
          <a:bodyPr wrap="square">
            <a:spAutoFit/>
          </a:bodyPr>
          <a:lstStyle/>
          <a:p>
            <a:pPr>
              <a:defRPr sz="2200" b="1">
                <a:solidFill>
                  <a:srgbClr val="F8FAFC"/>
                </a:solidFill>
              </a:defRPr>
            </a:pPr>
            <a:r>
              <a:t>Architectural Safety Boundary: Tools vs. Language Models</a:t>
            </a:r>
          </a:p>
        </p:txBody>
      </p:sp>
      <p:sp>
        <p:nvSpPr>
          <p:cNvPr id="6" name="Rounded Rectangle 5"/>
          <p:cNvSpPr/>
          <p:nvPr/>
        </p:nvSpPr>
        <p:spPr>
          <a:xfrm>
            <a:off x="731520" y="1554480"/>
            <a:ext cx="5212080" cy="39319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91639"/>
            <a:ext cx="4846320" cy="3657600"/>
          </a:xfrm>
          <a:prstGeom prst="rect">
            <a:avLst/>
          </a:prstGeom>
          <a:noFill/>
        </p:spPr>
        <p:txBody>
          <a:bodyPr wrap="square">
            <a:spAutoFit/>
          </a:bodyPr>
          <a:lstStyle/>
          <a:p>
            <a:pPr>
              <a:spcAft>
                <a:spcPts val="600"/>
              </a:spcAft>
              <a:defRPr sz="1400" b="1">
                <a:solidFill>
                  <a:srgbClr val="38BDF8"/>
                </a:solidFill>
              </a:defRPr>
            </a:pPr>
            <a:r>
              <a:t>Deterministic Python Tools (Hard Operations)</a:t>
            </a:r>
          </a:p>
          <a:p>
            <a:pPr>
              <a:spcAft>
                <a:spcPts val="350"/>
              </a:spcAft>
              <a:defRPr sz="1050">
                <a:solidFill>
                  <a:srgbClr val="F8FAFC"/>
                </a:solidFill>
              </a:defRPr>
            </a:pPr>
            <a:r>
              <a:t>• Responsibilities:</a:t>
            </a:r>
          </a:p>
          <a:p>
            <a:pPr>
              <a:spcAft>
                <a:spcPts val="350"/>
              </a:spcAft>
              <a:defRPr sz="1050">
                <a:solidFill>
                  <a:srgbClr val="F8FAFC"/>
                </a:solidFill>
              </a:defRPr>
            </a:pPr>
            <a:r>
              <a:t>•   • Mathematical arithmetic (kWh needed, slot energy, tariff sums).</a:t>
            </a:r>
          </a:p>
          <a:p>
            <a:pPr>
              <a:spcAft>
                <a:spcPts val="350"/>
              </a:spcAft>
              <a:defRPr sz="1050">
                <a:solidFill>
                  <a:srgbClr val="F8FAFC"/>
                </a:solidFill>
              </a:defRPr>
            </a:pPr>
            <a:r>
              <a:t>•   • Physical slot assignments across chargers 1–4.</a:t>
            </a:r>
          </a:p>
          <a:p>
            <a:pPr>
              <a:spcAft>
                <a:spcPts val="350"/>
              </a:spcAft>
              <a:defRPr sz="1050">
                <a:solidFill>
                  <a:srgbClr val="F8FAFC"/>
                </a:solidFill>
              </a:defRPr>
            </a:pPr>
            <a:r>
              <a:t>•   • Independent verification of the 6 hard physical constraints.</a:t>
            </a:r>
          </a:p>
          <a:p>
            <a:pPr>
              <a:spcAft>
                <a:spcPts val="350"/>
              </a:spcAft>
              <a:defRPr sz="1050">
                <a:solidFill>
                  <a:srgbClr val="F8FAFC"/>
                </a:solidFill>
              </a:defRPr>
            </a:pPr>
            <a:r>
              <a:t>• Why Python Tools?</a:t>
            </a:r>
          </a:p>
          <a:p>
            <a:pPr>
              <a:spcAft>
                <a:spcPts val="350"/>
              </a:spcAft>
              <a:defRPr sz="1050">
                <a:solidFill>
                  <a:srgbClr val="F8FAFC"/>
                </a:solidFill>
              </a:defRPr>
            </a:pPr>
            <a:r>
              <a:t>•   • 100% deterministic, mathematically verified, zero hallucination risk.</a:t>
            </a:r>
          </a:p>
          <a:p>
            <a:pPr>
              <a:spcAft>
                <a:spcPts val="350"/>
              </a:spcAft>
              <a:defRPr sz="1050">
                <a:solidFill>
                  <a:srgbClr val="F8FAFC"/>
                </a:solidFill>
              </a:defRPr>
            </a:pPr>
            <a:r>
              <a:t>•   • Sub-millisecond execution time on standard CPU.</a:t>
            </a:r>
          </a:p>
          <a:p>
            <a:pPr>
              <a:spcAft>
                <a:spcPts val="350"/>
              </a:spcAft>
              <a:defRPr sz="1050">
                <a:solidFill>
                  <a:srgbClr val="F8FAFC"/>
                </a:solidFill>
              </a:defRPr>
            </a:pPr>
            <a:r>
              <a:t>•   • Guarantees electrical breaker safety and legal tariff compliance.</a:t>
            </a:r>
          </a:p>
        </p:txBody>
      </p:sp>
      <p:sp>
        <p:nvSpPr>
          <p:cNvPr id="8" name="Rounded Rectangle 7"/>
          <p:cNvSpPr/>
          <p:nvPr/>
        </p:nvSpPr>
        <p:spPr>
          <a:xfrm>
            <a:off x="6217920" y="1554480"/>
            <a:ext cx="5212080" cy="3931920"/>
          </a:xfrm>
          <a:prstGeom prst="roundRect">
            <a:avLst/>
          </a:prstGeom>
          <a:solidFill>
            <a:srgbClr val="1E293B"/>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91639"/>
            <a:ext cx="4846320" cy="3657600"/>
          </a:xfrm>
          <a:prstGeom prst="rect">
            <a:avLst/>
          </a:prstGeom>
          <a:noFill/>
        </p:spPr>
        <p:txBody>
          <a:bodyPr wrap="square">
            <a:spAutoFit/>
          </a:bodyPr>
          <a:lstStyle/>
          <a:p>
            <a:pPr>
              <a:spcAft>
                <a:spcPts val="600"/>
              </a:spcAft>
              <a:defRPr sz="1400" b="1">
                <a:solidFill>
                  <a:srgbClr val="A855F7"/>
                </a:solidFill>
              </a:defRPr>
            </a:pPr>
            <a:r>
              <a:t>Local AI Explanation Agent (Human Interface)</a:t>
            </a:r>
          </a:p>
          <a:p>
            <a:pPr>
              <a:spcAft>
                <a:spcPts val="350"/>
              </a:spcAft>
              <a:defRPr sz="1050">
                <a:solidFill>
                  <a:srgbClr val="F8FAFC"/>
                </a:solidFill>
              </a:defRPr>
            </a:pPr>
            <a:r>
              <a:t>• Responsibilities:</a:t>
            </a:r>
          </a:p>
          <a:p>
            <a:pPr>
              <a:spcAft>
                <a:spcPts val="350"/>
              </a:spcAft>
              <a:defRPr sz="1050">
                <a:solidFill>
                  <a:srgbClr val="F8FAFC"/>
                </a:solidFill>
              </a:defRPr>
            </a:pPr>
            <a:r>
              <a:t>•   • Answers manager questions in plain English (e.g. 'Why was EV-101 prioritized?').</a:t>
            </a:r>
          </a:p>
          <a:p>
            <a:pPr>
              <a:spcAft>
                <a:spcPts val="350"/>
              </a:spcAft>
              <a:defRPr sz="1050">
                <a:solidFill>
                  <a:srgbClr val="F8FAFC"/>
                </a:solidFill>
              </a:defRPr>
            </a:pPr>
            <a:r>
              <a:t>•   • Explains cost trade-offs and operational insights.</a:t>
            </a:r>
          </a:p>
          <a:p>
            <a:pPr>
              <a:spcAft>
                <a:spcPts val="350"/>
              </a:spcAft>
              <a:defRPr sz="1050">
                <a:solidFill>
                  <a:srgbClr val="F8FAFC"/>
                </a:solidFill>
              </a:defRPr>
            </a:pPr>
            <a:r>
              <a:t>• Why It Has ZERO Write Access:</a:t>
            </a:r>
          </a:p>
          <a:p>
            <a:pPr>
              <a:spcAft>
                <a:spcPts val="350"/>
              </a:spcAft>
              <a:defRPr sz="1050">
                <a:solidFill>
                  <a:srgbClr val="F8FAFC"/>
                </a:solidFill>
              </a:defRPr>
            </a:pPr>
            <a:r>
              <a:t>•   • An LLM should NEVER directly allocate high-voltage chargers or override safety audits.</a:t>
            </a:r>
          </a:p>
          <a:p>
            <a:pPr>
              <a:spcAft>
                <a:spcPts val="350"/>
              </a:spcAft>
              <a:defRPr sz="1050">
                <a:solidFill>
                  <a:srgbClr val="F8FAFC"/>
                </a:solidFill>
              </a:defRPr>
            </a:pPr>
            <a:r>
              <a:t>• Zero-Cost Implementation:</a:t>
            </a:r>
          </a:p>
          <a:p>
            <a:pPr>
              <a:spcAft>
                <a:spcPts val="350"/>
              </a:spcAft>
              <a:defRPr sz="1050">
                <a:solidFill>
                  <a:srgbClr val="F8FAFC"/>
                </a:solidFill>
              </a:defRPr>
            </a:pPr>
            <a:r>
              <a:t>•   • Powered by LangChain + Local Ollama (llama3.2:3b).</a:t>
            </a:r>
          </a:p>
          <a:p>
            <a:pPr>
              <a:spcAft>
                <a:spcPts val="350"/>
              </a:spcAft>
              <a:defRPr sz="1050">
                <a:solidFill>
                  <a:srgbClr val="F8FAFC"/>
                </a:solidFill>
              </a:defRPr>
            </a:pPr>
            <a:r>
              <a:t>•   • Includes an offline Built-in Mock Agentic Engine for instant evaluation without GPUs.</a:t>
            </a:r>
          </a:p>
        </p:txBody>
      </p:sp>
      <p:sp>
        <p:nvSpPr>
          <p:cNvPr id="10" name="Rounded Rectangle 9"/>
          <p:cNvSpPr/>
          <p:nvPr/>
        </p:nvSpPr>
        <p:spPr>
          <a:xfrm>
            <a:off x="731520" y="5577840"/>
            <a:ext cx="10698480" cy="868680"/>
          </a:xfrm>
          <a:prstGeom prst="roundRect">
            <a:avLst/>
          </a:prstGeom>
          <a:solidFill>
            <a:srgbClr val="18202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650992"/>
            <a:ext cx="10424159" cy="722375"/>
          </a:xfrm>
          <a:prstGeom prst="rect">
            <a:avLst/>
          </a:prstGeom>
          <a:noFill/>
        </p:spPr>
        <p:txBody>
          <a:bodyPr wrap="square">
            <a:spAutoFit/>
          </a:bodyPr>
          <a:lstStyle/>
          <a:p>
            <a:pPr>
              <a:spcAft>
                <a:spcPts val="200"/>
              </a:spcAft>
              <a:defRPr sz="1100" b="1">
                <a:solidFill>
                  <a:srgbClr val="F59E0B"/>
                </a:solidFill>
              </a:defRPr>
            </a:pPr>
            <a:r>
              <a:t>🎯 Counter-Question: 'What happens if the LLM hallucinates an answer?'</a:t>
            </a:r>
          </a:p>
          <a:p>
            <a:pPr>
              <a:defRPr sz="950">
                <a:solidFill>
                  <a:srgbClr val="F8FAFC"/>
                </a:solidFill>
              </a:defRPr>
            </a:pPr>
            <a:r>
              <a:t>Answer: Zero operational risk. The LLM's output is purely advisory text in the UI. The actual dispatch schedule, charger relays, and tariff billing are governed entirely by the deterministic tools certified by the Critic.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10728655"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728655" cy="320040"/>
          </a:xfrm>
          <a:prstGeom prst="rect">
            <a:avLst/>
          </a:prstGeom>
          <a:noFill/>
        </p:spPr>
        <p:txBody>
          <a:bodyPr wrap="square">
            <a:spAutoFit/>
          </a:bodyPr>
          <a:lstStyle/>
          <a:p>
            <a:pPr>
              <a:defRPr sz="1000" b="1">
                <a:solidFill>
                  <a:srgbClr val="10B981"/>
                </a:solidFill>
              </a:defRPr>
            </a:pPr>
            <a:r>
              <a:t>SOFTWARE IMPLEMENTATION</a:t>
            </a:r>
          </a:p>
        </p:txBody>
      </p:sp>
      <p:sp>
        <p:nvSpPr>
          <p:cNvPr id="5" name="TextBox 4"/>
          <p:cNvSpPr txBox="1"/>
          <p:nvPr/>
        </p:nvSpPr>
        <p:spPr>
          <a:xfrm>
            <a:off x="731520" y="777240"/>
            <a:ext cx="10728655" cy="685800"/>
          </a:xfrm>
          <a:prstGeom prst="rect">
            <a:avLst/>
          </a:prstGeom>
          <a:noFill/>
        </p:spPr>
        <p:txBody>
          <a:bodyPr wrap="square">
            <a:spAutoFit/>
          </a:bodyPr>
          <a:lstStyle/>
          <a:p>
            <a:pPr>
              <a:defRPr sz="2200" b="1">
                <a:solidFill>
                  <a:srgbClr val="F8FAFC"/>
                </a:solidFill>
              </a:defRPr>
            </a:pPr>
            <a:r>
              <a:t>Working PoC Feature Tour &amp; Dashboard Capabilities</a:t>
            </a:r>
          </a:p>
        </p:txBody>
      </p:sp>
      <p:sp>
        <p:nvSpPr>
          <p:cNvPr id="6" name="Rounded Rectangle 5"/>
          <p:cNvSpPr/>
          <p:nvPr/>
        </p:nvSpPr>
        <p:spPr>
          <a:xfrm>
            <a:off x="731520" y="1554480"/>
            <a:ext cx="5212080" cy="39319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91639"/>
            <a:ext cx="4846320" cy="3657600"/>
          </a:xfrm>
          <a:prstGeom prst="rect">
            <a:avLst/>
          </a:prstGeom>
          <a:noFill/>
        </p:spPr>
        <p:txBody>
          <a:bodyPr wrap="square">
            <a:spAutoFit/>
          </a:bodyPr>
          <a:lstStyle/>
          <a:p>
            <a:pPr>
              <a:spcAft>
                <a:spcPts val="600"/>
              </a:spcAft>
              <a:defRPr sz="1400" b="1">
                <a:solidFill>
                  <a:srgbClr val="38BDF8"/>
                </a:solidFill>
              </a:defRPr>
            </a:pPr>
            <a:r>
              <a:t>Core Interactive Features</a:t>
            </a:r>
          </a:p>
          <a:p>
            <a:pPr>
              <a:spcAft>
                <a:spcPts val="350"/>
              </a:spcAft>
              <a:defRPr sz="1050">
                <a:solidFill>
                  <a:srgbClr val="F8FAFC"/>
                </a:solidFill>
              </a:defRPr>
            </a:pPr>
            <a:r>
              <a:t>• 1. Fleet Scenario Presets: One-click presets for Standard Fleet, Morning Rush (tight deadlines), and Delivery Vans (critical low battery).</a:t>
            </a:r>
          </a:p>
          <a:p>
            <a:pPr>
              <a:spcAft>
                <a:spcPts val="350"/>
              </a:spcAft>
              <a:defRPr sz="1050">
                <a:solidFill>
                  <a:srgbClr val="F8FAFC"/>
                </a:solidFill>
              </a:defRPr>
            </a:pPr>
            <a:r>
              <a:t>• 2. Editable Telemetry: Real-time data editor for initial SoC, target SoC, and departure deadlines.</a:t>
            </a:r>
          </a:p>
          <a:p>
            <a:pPr>
              <a:spcAft>
                <a:spcPts val="350"/>
              </a:spcAft>
              <a:defRPr sz="1050">
                <a:solidFill>
                  <a:srgbClr val="F8FAFC"/>
                </a:solidFill>
              </a:defRPr>
            </a:pPr>
            <a:r>
              <a:t>• 3. Dynamic Tariff Visualizer: 30-min time-of-use pricing table showing off-peak valleys vs peak surges.</a:t>
            </a:r>
          </a:p>
          <a:p>
            <a:pPr>
              <a:spcAft>
                <a:spcPts val="350"/>
              </a:spcAft>
              <a:defRPr sz="1050">
                <a:solidFill>
                  <a:srgbClr val="F8FAFC"/>
                </a:solidFill>
              </a:defRPr>
            </a:pPr>
            <a:r>
              <a:t>• 4. One-Click Replan Demo: Test closed-loop fault injection and autonomous recovery in real time.</a:t>
            </a:r>
          </a:p>
          <a:p>
            <a:pPr>
              <a:spcAft>
                <a:spcPts val="350"/>
              </a:spcAft>
              <a:defRPr sz="1050">
                <a:solidFill>
                  <a:srgbClr val="F8FAFC"/>
                </a:solidFill>
              </a:defRPr>
            </a:pPr>
            <a:r>
              <a:t>• 5. Schedule Export: One-click CSV download for enterprise fleet dispatch integration.</a:t>
            </a:r>
          </a:p>
        </p:txBody>
      </p:sp>
      <p:sp>
        <p:nvSpPr>
          <p:cNvPr id="8" name="Rounded Rectangle 7"/>
          <p:cNvSpPr/>
          <p:nvPr/>
        </p:nvSpPr>
        <p:spPr>
          <a:xfrm>
            <a:off x="6217920" y="1554480"/>
            <a:ext cx="5212080" cy="39319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91639"/>
            <a:ext cx="4846320" cy="3657600"/>
          </a:xfrm>
          <a:prstGeom prst="rect">
            <a:avLst/>
          </a:prstGeom>
          <a:noFill/>
        </p:spPr>
        <p:txBody>
          <a:bodyPr wrap="square">
            <a:spAutoFit/>
          </a:bodyPr>
          <a:lstStyle/>
          <a:p>
            <a:pPr>
              <a:spcAft>
                <a:spcPts val="600"/>
              </a:spcAft>
              <a:defRPr sz="1400" b="1">
                <a:solidFill>
                  <a:srgbClr val="10B981"/>
                </a:solidFill>
              </a:defRPr>
            </a:pPr>
            <a:r>
              <a:t>The 3 High-Impact Visuals</a:t>
            </a:r>
          </a:p>
          <a:p>
            <a:pPr>
              <a:spcAft>
                <a:spcPts val="350"/>
              </a:spcAft>
              <a:defRPr sz="1050">
                <a:solidFill>
                  <a:srgbClr val="F8FAFC"/>
                </a:solidFill>
              </a:defRPr>
            </a:pPr>
            <a:r>
              <a:t>• 1. Visual Dispatch Gantt Timeline: Horizontal Plotly chart mapping Chargers 1–4 vs. 30-min slots with color-coded vehicle sessions.</a:t>
            </a:r>
          </a:p>
          <a:p>
            <a:pPr>
              <a:spcAft>
                <a:spcPts val="350"/>
              </a:spcAft>
              <a:defRPr sz="1050">
                <a:solidFill>
                  <a:srgbClr val="F8FAFC"/>
                </a:solidFill>
              </a:defRPr>
            </a:pPr>
            <a:r>
              <a:t>• 2. Dynamic Tariff Arbitrage Proof: Dual-axis chart overlaying Station Load (kW) with Tariff Price (₹/kWh) to prove off-peak load shifting.</a:t>
            </a:r>
          </a:p>
          <a:p>
            <a:pPr>
              <a:spcAft>
                <a:spcPts val="350"/>
              </a:spcAft>
              <a:defRPr sz="1050">
                <a:solidFill>
                  <a:srgbClr val="F8FAFC"/>
                </a:solidFill>
              </a:defRPr>
            </a:pPr>
            <a:r>
              <a:t>• 3. Fleet Battery Scorecard: Vehicle-by-vehicle turnaround tracker showing initial SoC, final SoC, target SoC, and completion badges.</a:t>
            </a:r>
          </a:p>
          <a:p>
            <a:pPr>
              <a:spcAft>
                <a:spcPts val="350"/>
              </a:spcAft>
              <a:defRPr sz="1050">
                <a:solidFill>
                  <a:srgbClr val="F8FAFC"/>
                </a:solidFill>
              </a:defRPr>
            </a:pPr>
            <a:r>
              <a:t>• 4. Local AI Chat Agent: Pre-built prompt pills for instant business Q&amp;A.</a:t>
            </a:r>
          </a:p>
        </p:txBody>
      </p:sp>
      <p:sp>
        <p:nvSpPr>
          <p:cNvPr id="10" name="Rounded Rectangle 9"/>
          <p:cNvSpPr/>
          <p:nvPr/>
        </p:nvSpPr>
        <p:spPr>
          <a:xfrm>
            <a:off x="731520" y="5577840"/>
            <a:ext cx="10698480" cy="868680"/>
          </a:xfrm>
          <a:prstGeom prst="roundRect">
            <a:avLst/>
          </a:prstGeom>
          <a:solidFill>
            <a:srgbClr val="18202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650992"/>
            <a:ext cx="10424159" cy="722375"/>
          </a:xfrm>
          <a:prstGeom prst="rect">
            <a:avLst/>
          </a:prstGeom>
          <a:noFill/>
        </p:spPr>
        <p:txBody>
          <a:bodyPr wrap="square">
            <a:spAutoFit/>
          </a:bodyPr>
          <a:lstStyle/>
          <a:p>
            <a:pPr>
              <a:spcAft>
                <a:spcPts val="200"/>
              </a:spcAft>
              <a:defRPr sz="1100" b="1">
                <a:solidFill>
                  <a:srgbClr val="F59E0B"/>
                </a:solidFill>
              </a:defRPr>
            </a:pPr>
            <a:r>
              <a:t>🖥️ Dashboard Design Principle</a:t>
            </a:r>
          </a:p>
          <a:p>
            <a:pPr>
              <a:defRPr sz="950">
                <a:solidFill>
                  <a:srgbClr val="F8FAFC"/>
                </a:solidFill>
              </a:defRPr>
            </a:pPr>
            <a:r>
              <a:t>Engineered for clarity and explainability: Eliminates unnecessary clutter and nested tabs so teachers and evaluators can grasp the entire dispatch operation in 60 seconds.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10728655"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728655" cy="320040"/>
          </a:xfrm>
          <a:prstGeom prst="rect">
            <a:avLst/>
          </a:prstGeom>
          <a:noFill/>
        </p:spPr>
        <p:txBody>
          <a:bodyPr wrap="square">
            <a:spAutoFit/>
          </a:bodyPr>
          <a:lstStyle/>
          <a:p>
            <a:pPr>
              <a:defRPr sz="1000" b="1">
                <a:solidFill>
                  <a:srgbClr val="10B981"/>
                </a:solidFill>
              </a:defRPr>
            </a:pPr>
            <a:r>
              <a:t>SIMULATION FINDINGS</a:t>
            </a:r>
          </a:p>
        </p:txBody>
      </p:sp>
      <p:sp>
        <p:nvSpPr>
          <p:cNvPr id="5" name="TextBox 4"/>
          <p:cNvSpPr txBox="1"/>
          <p:nvPr/>
        </p:nvSpPr>
        <p:spPr>
          <a:xfrm>
            <a:off x="731520" y="777240"/>
            <a:ext cx="10728655" cy="685800"/>
          </a:xfrm>
          <a:prstGeom prst="rect">
            <a:avLst/>
          </a:prstGeom>
          <a:noFill/>
        </p:spPr>
        <p:txBody>
          <a:bodyPr wrap="square">
            <a:spAutoFit/>
          </a:bodyPr>
          <a:lstStyle/>
          <a:p>
            <a:pPr>
              <a:defRPr sz="2200" b="1">
                <a:solidFill>
                  <a:srgbClr val="F8FAFC"/>
                </a:solidFill>
              </a:defRPr>
            </a:pPr>
            <a:r>
              <a:t>Experimental Results &amp; Counterfactual Policy Analysis</a:t>
            </a:r>
          </a:p>
        </p:txBody>
      </p:sp>
      <p:sp>
        <p:nvSpPr>
          <p:cNvPr id="6" name="Rounded Rectangle 5"/>
          <p:cNvSpPr/>
          <p:nvPr/>
        </p:nvSpPr>
        <p:spPr>
          <a:xfrm>
            <a:off x="731520" y="1554480"/>
            <a:ext cx="5212080" cy="39319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91639"/>
            <a:ext cx="4846320" cy="3657600"/>
          </a:xfrm>
          <a:prstGeom prst="rect">
            <a:avLst/>
          </a:prstGeom>
          <a:noFill/>
        </p:spPr>
        <p:txBody>
          <a:bodyPr wrap="square">
            <a:spAutoFit/>
          </a:bodyPr>
          <a:lstStyle/>
          <a:p>
            <a:pPr>
              <a:spcAft>
                <a:spcPts val="600"/>
              </a:spcAft>
              <a:defRPr sz="1400" b="1">
                <a:solidFill>
                  <a:srgbClr val="10B981"/>
                </a:solidFill>
              </a:defRPr>
            </a:pPr>
            <a:r>
              <a:t>Controlled Counterfactual Experiment (10 EVs)</a:t>
            </a:r>
          </a:p>
          <a:p>
            <a:pPr>
              <a:spcAft>
                <a:spcPts val="350"/>
              </a:spcAft>
              <a:defRPr sz="1050">
                <a:solidFill>
                  <a:srgbClr val="F8FAFC"/>
                </a:solidFill>
              </a:defRPr>
            </a:pPr>
            <a:r>
              <a:t>• Identical Inputs: 10 EV requests, 4 charging bays, 12 half-hour slots (6 hours), dynamic ToU tariffs.</a:t>
            </a:r>
          </a:p>
          <a:p>
            <a:pPr>
              <a:spcAft>
                <a:spcPts val="350"/>
              </a:spcAft>
              <a:defRPr sz="1050">
                <a:solidFill>
                  <a:srgbClr val="F8FAFC"/>
                </a:solidFill>
              </a:defRPr>
            </a:pPr>
            <a:r>
              <a:t>• Cost Saver Policy:</a:t>
            </a:r>
          </a:p>
          <a:p>
            <a:pPr>
              <a:spcAft>
                <a:spcPts val="350"/>
              </a:spcAft>
              <a:defRPr sz="1050">
                <a:solidFill>
                  <a:srgbClr val="F8FAFC"/>
                </a:solidFill>
              </a:defRPr>
            </a:pPr>
            <a:r>
              <a:t>•   • Total Cost: ₹634.50 | Scheduled: 9 EVs | Avg: ₹7.12/kWh</a:t>
            </a:r>
          </a:p>
          <a:p>
            <a:pPr>
              <a:spcAft>
                <a:spcPts val="350"/>
              </a:spcAft>
              <a:defRPr sz="1050">
                <a:solidFill>
                  <a:srgbClr val="F8FAFC"/>
                </a:solidFill>
              </a:defRPr>
            </a:pPr>
            <a:r>
              <a:t>•   • Packs sessions into off-peak dip (Slots 2–4 at ₹6.80–7.00/kWh). Saves ~20% on power bill.</a:t>
            </a:r>
          </a:p>
          <a:p>
            <a:pPr>
              <a:spcAft>
                <a:spcPts val="350"/>
              </a:spcAft>
              <a:defRPr sz="1050">
                <a:solidFill>
                  <a:srgbClr val="F8FAFC"/>
                </a:solidFill>
              </a:defRPr>
            </a:pPr>
            <a:r>
              <a:t>• Urgent First Policy:</a:t>
            </a:r>
          </a:p>
          <a:p>
            <a:pPr>
              <a:spcAft>
                <a:spcPts val="350"/>
              </a:spcAft>
              <a:defRPr sz="1050">
                <a:solidFill>
                  <a:srgbClr val="F8FAFC"/>
                </a:solidFill>
              </a:defRPr>
            </a:pPr>
            <a:r>
              <a:t>•   • Total Cost: ₹842.00 | Scheduled: 10 EVs | Avg: ₹8.95/kWh</a:t>
            </a:r>
          </a:p>
          <a:p>
            <a:pPr>
              <a:spcAft>
                <a:spcPts val="350"/>
              </a:spcAft>
              <a:defRPr sz="1050">
                <a:solidFill>
                  <a:srgbClr val="F8FAFC"/>
                </a:solidFill>
              </a:defRPr>
            </a:pPr>
            <a:r>
              <a:t>•   • Dispatches low SoC vehicles immediately, incurring peak price penalties (₹11.00/kWh).</a:t>
            </a:r>
          </a:p>
          <a:p>
            <a:pPr>
              <a:spcAft>
                <a:spcPts val="350"/>
              </a:spcAft>
              <a:defRPr sz="1050">
                <a:solidFill>
                  <a:srgbClr val="F8FAFC"/>
                </a:solidFill>
              </a:defRPr>
            </a:pPr>
            <a:r>
              <a:t>• Balanced Policy (Default):</a:t>
            </a:r>
          </a:p>
          <a:p>
            <a:pPr>
              <a:spcAft>
                <a:spcPts val="350"/>
              </a:spcAft>
              <a:defRPr sz="1050">
                <a:solidFill>
                  <a:srgbClr val="F8FAFC"/>
                </a:solidFill>
              </a:defRPr>
            </a:pPr>
            <a:r>
              <a:t>•   • Total Cost: ₹721.25 | Scheduled: 10 EVs | Avg: ₹7.84/kWh</a:t>
            </a:r>
          </a:p>
          <a:p>
            <a:pPr>
              <a:spcAft>
                <a:spcPts val="350"/>
              </a:spcAft>
              <a:defRPr sz="1050">
                <a:solidFill>
                  <a:srgbClr val="F8FAFC"/>
                </a:solidFill>
              </a:defRPr>
            </a:pPr>
            <a:r>
              <a:t>•   • Optimal balance: high turnaround with moderate tariff costs.</a:t>
            </a:r>
          </a:p>
        </p:txBody>
      </p:sp>
      <p:sp>
        <p:nvSpPr>
          <p:cNvPr id="8" name="Rounded Rectangle 7"/>
          <p:cNvSpPr/>
          <p:nvPr/>
        </p:nvSpPr>
        <p:spPr>
          <a:xfrm>
            <a:off x="6217920" y="1554480"/>
            <a:ext cx="5212080" cy="39319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91639"/>
            <a:ext cx="4846320" cy="3657600"/>
          </a:xfrm>
          <a:prstGeom prst="rect">
            <a:avLst/>
          </a:prstGeom>
          <a:noFill/>
        </p:spPr>
        <p:txBody>
          <a:bodyPr wrap="square">
            <a:spAutoFit/>
          </a:bodyPr>
          <a:lstStyle/>
          <a:p>
            <a:pPr>
              <a:spcAft>
                <a:spcPts val="600"/>
              </a:spcAft>
              <a:defRPr sz="1400" b="1">
                <a:solidFill>
                  <a:srgbClr val="38BDF8"/>
                </a:solidFill>
              </a:defRPr>
            </a:pPr>
            <a:r>
              <a:t>Key Empirical Conclusions</a:t>
            </a:r>
          </a:p>
          <a:p>
            <a:pPr>
              <a:spcAft>
                <a:spcPts val="350"/>
              </a:spcAft>
              <a:defRPr sz="1050">
                <a:solidFill>
                  <a:srgbClr val="F8FAFC"/>
                </a:solidFill>
              </a:defRPr>
            </a:pPr>
            <a:r>
              <a:t>• Tariff Arbitrage Proven: Cost Saver shifts 44 kWh of demand away from peak slots 6–7 into slots 2–4, generating ₹207.50 direct cash savings.</a:t>
            </a:r>
          </a:p>
          <a:p>
            <a:pPr>
              <a:spcAft>
                <a:spcPts val="350"/>
              </a:spcAft>
              <a:defRPr sz="1050">
                <a:solidFill>
                  <a:srgbClr val="F8FAFC"/>
                </a:solidFill>
              </a:defRPr>
            </a:pPr>
            <a:r>
              <a:t>• Zero Double-Booking: Across all 3 policies, the Critic Agent recorded 0 charger conflicts and 0 deadline breaches.</a:t>
            </a:r>
          </a:p>
          <a:p>
            <a:pPr>
              <a:spcAft>
                <a:spcPts val="350"/>
              </a:spcAft>
              <a:defRPr sz="1050">
                <a:solidFill>
                  <a:srgbClr val="F8FAFC"/>
                </a:solidFill>
              </a:defRPr>
            </a:pPr>
            <a:r>
              <a:t>• Self-Healing Verified: Injected conflict tests achieved 100% recovery across all fleet scenarios.</a:t>
            </a:r>
          </a:p>
          <a:p>
            <a:pPr>
              <a:spcAft>
                <a:spcPts val="350"/>
              </a:spcAft>
              <a:defRPr sz="1050">
                <a:solidFill>
                  <a:srgbClr val="F8FAFC"/>
                </a:solidFill>
              </a:defRPr>
            </a:pPr>
            <a:r>
              <a:t>• Scenario Adaptability: Successfully tested on Standard Fleet, Morning Rush, and Low-Battery Delivery Vans.</a:t>
            </a:r>
          </a:p>
        </p:txBody>
      </p:sp>
      <p:sp>
        <p:nvSpPr>
          <p:cNvPr id="10" name="Rounded Rectangle 9"/>
          <p:cNvSpPr/>
          <p:nvPr/>
        </p:nvSpPr>
        <p:spPr>
          <a:xfrm>
            <a:off x="731520" y="5577840"/>
            <a:ext cx="10698480" cy="868680"/>
          </a:xfrm>
          <a:prstGeom prst="roundRect">
            <a:avLst/>
          </a:prstGeom>
          <a:solidFill>
            <a:srgbClr val="18202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650992"/>
            <a:ext cx="10424159" cy="722375"/>
          </a:xfrm>
          <a:prstGeom prst="rect">
            <a:avLst/>
          </a:prstGeom>
          <a:noFill/>
        </p:spPr>
        <p:txBody>
          <a:bodyPr wrap="square">
            <a:spAutoFit/>
          </a:bodyPr>
          <a:lstStyle/>
          <a:p>
            <a:pPr>
              <a:spcAft>
                <a:spcPts val="200"/>
              </a:spcAft>
              <a:defRPr sz="1100" b="1">
                <a:solidFill>
                  <a:srgbClr val="F59E0B"/>
                </a:solidFill>
              </a:defRPr>
            </a:pPr>
            <a:r>
              <a:t>💡 Counter-Question: 'Why did Cost Saver schedule fewer EVs or report warnings?'</a:t>
            </a:r>
          </a:p>
          <a:p>
            <a:pPr>
              <a:defRPr sz="950">
                <a:solidFill>
                  <a:srgbClr val="F8FAFC"/>
                </a:solidFill>
              </a:defRPr>
            </a:pPr>
            <a:r>
              <a:t>Answer: Cost Saver refused to run flexible charging during expensive peak slots. Non-urgent EVs whose only available window coincided with peak tariffs were intentionally deferred, protecting the depot's electricity budget.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10728655"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728655" cy="320040"/>
          </a:xfrm>
          <a:prstGeom prst="rect">
            <a:avLst/>
          </a:prstGeom>
          <a:noFill/>
        </p:spPr>
        <p:txBody>
          <a:bodyPr wrap="square">
            <a:spAutoFit/>
          </a:bodyPr>
          <a:lstStyle/>
          <a:p>
            <a:pPr>
              <a:defRPr sz="1000" b="1">
                <a:solidFill>
                  <a:srgbClr val="10B981"/>
                </a:solidFill>
              </a:defRPr>
            </a:pPr>
            <a:r>
              <a:t>ENGINEERING CRITIQUE</a:t>
            </a:r>
          </a:p>
        </p:txBody>
      </p:sp>
      <p:sp>
        <p:nvSpPr>
          <p:cNvPr id="5" name="TextBox 4"/>
          <p:cNvSpPr txBox="1"/>
          <p:nvPr/>
        </p:nvSpPr>
        <p:spPr>
          <a:xfrm>
            <a:off x="731520" y="777240"/>
            <a:ext cx="10728655" cy="685800"/>
          </a:xfrm>
          <a:prstGeom prst="rect">
            <a:avLst/>
          </a:prstGeom>
          <a:noFill/>
        </p:spPr>
        <p:txBody>
          <a:bodyPr wrap="square">
            <a:spAutoFit/>
          </a:bodyPr>
          <a:lstStyle/>
          <a:p>
            <a:pPr>
              <a:defRPr sz="2200" b="1">
                <a:solidFill>
                  <a:srgbClr val="F8FAFC"/>
                </a:solidFill>
              </a:defRPr>
            </a:pPr>
            <a:r>
              <a:t>PoC Assumptions, Limitations &amp; Production Roadmap</a:t>
            </a:r>
          </a:p>
        </p:txBody>
      </p:sp>
      <p:sp>
        <p:nvSpPr>
          <p:cNvPr id="6" name="Rounded Rectangle 5"/>
          <p:cNvSpPr/>
          <p:nvPr/>
        </p:nvSpPr>
        <p:spPr>
          <a:xfrm>
            <a:off x="731520" y="1554480"/>
            <a:ext cx="5212080" cy="39319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91639"/>
            <a:ext cx="4846320" cy="3657600"/>
          </a:xfrm>
          <a:prstGeom prst="rect">
            <a:avLst/>
          </a:prstGeom>
          <a:noFill/>
        </p:spPr>
        <p:txBody>
          <a:bodyPr wrap="square">
            <a:spAutoFit/>
          </a:bodyPr>
          <a:lstStyle/>
          <a:p>
            <a:pPr>
              <a:spcAft>
                <a:spcPts val="600"/>
              </a:spcAft>
              <a:defRPr sz="1400" b="1">
                <a:solidFill>
                  <a:srgbClr val="94A3B8"/>
                </a:solidFill>
              </a:defRPr>
            </a:pPr>
            <a:r>
              <a:t>Current PoC Assumptions &amp; Limitations</a:t>
            </a:r>
          </a:p>
          <a:p>
            <a:pPr>
              <a:spcAft>
                <a:spcPts val="350"/>
              </a:spcAft>
              <a:defRPr sz="1050">
                <a:solidFill>
                  <a:srgbClr val="F8FAFC"/>
                </a:solidFill>
              </a:defRPr>
            </a:pPr>
            <a:r>
              <a:t>• 1. Standard Battery Capacity: Assumes 60 kWh standard pack across all vehicles for reproducibility.</a:t>
            </a:r>
          </a:p>
          <a:p>
            <a:pPr>
              <a:spcAft>
                <a:spcPts val="350"/>
              </a:spcAft>
              <a:defRPr sz="1050">
                <a:solidFill>
                  <a:srgbClr val="F8FAFC"/>
                </a:solidFill>
              </a:defRPr>
            </a:pPr>
            <a:r>
              <a:t>• 2. Linear Charging Rate: Real lithium-ion batteries taper intake power above 80% state-of-charge.</a:t>
            </a:r>
          </a:p>
          <a:p>
            <a:pPr>
              <a:spcAft>
                <a:spcPts val="350"/>
              </a:spcAft>
              <a:defRPr sz="1050">
                <a:solidFill>
                  <a:srgbClr val="F8FAFC"/>
                </a:solidFill>
              </a:defRPr>
            </a:pPr>
            <a:r>
              <a:t>• 3. Discrete 30-Minute Slots: Real charging sessions can connect/disconnect at any second.</a:t>
            </a:r>
          </a:p>
          <a:p>
            <a:pPr>
              <a:spcAft>
                <a:spcPts val="350"/>
              </a:spcAft>
              <a:defRPr sz="1050">
                <a:solidFill>
                  <a:srgbClr val="F8FAFC"/>
                </a:solidFill>
              </a:defRPr>
            </a:pPr>
            <a:r>
              <a:t>• 4. Synthetic Tariffs: Illustrative Time-of-Use pricing rather than live utility API streams.</a:t>
            </a:r>
          </a:p>
          <a:p>
            <a:pPr>
              <a:spcAft>
                <a:spcPts val="350"/>
              </a:spcAft>
              <a:defRPr sz="1050">
                <a:solidFill>
                  <a:srgbClr val="F8FAFC"/>
                </a:solidFill>
              </a:defRPr>
            </a:pPr>
            <a:r>
              <a:t>• 5. Greedy Priority vs. Global Solver: Uses heuristic ranking rather than heavy MILP branch-and-bound.</a:t>
            </a:r>
          </a:p>
        </p:txBody>
      </p:sp>
      <p:sp>
        <p:nvSpPr>
          <p:cNvPr id="8" name="Rounded Rectangle 7"/>
          <p:cNvSpPr/>
          <p:nvPr/>
        </p:nvSpPr>
        <p:spPr>
          <a:xfrm>
            <a:off x="6217920" y="1554480"/>
            <a:ext cx="5212080" cy="39319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91639"/>
            <a:ext cx="4846320" cy="3657600"/>
          </a:xfrm>
          <a:prstGeom prst="rect">
            <a:avLst/>
          </a:prstGeom>
          <a:noFill/>
        </p:spPr>
        <p:txBody>
          <a:bodyPr wrap="square">
            <a:spAutoFit/>
          </a:bodyPr>
          <a:lstStyle/>
          <a:p>
            <a:pPr>
              <a:spcAft>
                <a:spcPts val="600"/>
              </a:spcAft>
              <a:defRPr sz="1400" b="1">
                <a:solidFill>
                  <a:srgbClr val="10B981"/>
                </a:solidFill>
              </a:defRPr>
            </a:pPr>
            <a:r>
              <a:t>Production Roadmap &amp; Future Scope</a:t>
            </a:r>
          </a:p>
          <a:p>
            <a:pPr>
              <a:spcAft>
                <a:spcPts val="350"/>
              </a:spcAft>
              <a:defRPr sz="1050">
                <a:solidFill>
                  <a:srgbClr val="F8FAFC"/>
                </a:solidFill>
              </a:defRPr>
            </a:pPr>
            <a:r>
              <a:t>• 1. OCPP 2.0.1 Hardware Integration: Connect agents directly to physical EVSE charging kiosks via JSON-RPC.</a:t>
            </a:r>
          </a:p>
          <a:p>
            <a:pPr>
              <a:spcAft>
                <a:spcPts val="350"/>
              </a:spcAft>
              <a:defRPr sz="1050">
                <a:solidFill>
                  <a:srgbClr val="F8FAFC"/>
                </a:solidFill>
              </a:defRPr>
            </a:pPr>
            <a:r>
              <a:t>• 2. Non-Linear CC-CV Taper Curves: Implement realistic electrochemical battery charging models.</a:t>
            </a:r>
          </a:p>
          <a:p>
            <a:pPr>
              <a:spcAft>
                <a:spcPts val="350"/>
              </a:spcAft>
              <a:defRPr sz="1050">
                <a:solidFill>
                  <a:srgbClr val="F8FAFC"/>
                </a:solidFill>
              </a:defRPr>
            </a:pPr>
            <a:r>
              <a:t>• 3. Vehicle-to-Grid (V2G) Arbitrage: Enable bidirectional discharge back to the grid during extreme price spikes.</a:t>
            </a:r>
          </a:p>
          <a:p>
            <a:pPr>
              <a:spcAft>
                <a:spcPts val="350"/>
              </a:spcAft>
              <a:defRPr sz="1050">
                <a:solidFill>
                  <a:srgbClr val="F8FAFC"/>
                </a:solidFill>
              </a:defRPr>
            </a:pPr>
            <a:r>
              <a:t>• 4. Model Context Protocol (MCP): Connect live transformer thermal sensors and dynamic utility pricing feeds.</a:t>
            </a:r>
          </a:p>
          <a:p>
            <a:pPr>
              <a:spcAft>
                <a:spcPts val="350"/>
              </a:spcAft>
              <a:defRPr sz="1050">
                <a:solidFill>
                  <a:srgbClr val="F8FAFC"/>
                </a:solidFill>
              </a:defRPr>
            </a:pPr>
            <a:r>
              <a:t>• 5. Multi-Depot Distributed Mesh: Orchestrate charging across city-wide delivery hubs.</a:t>
            </a:r>
          </a:p>
        </p:txBody>
      </p:sp>
      <p:sp>
        <p:nvSpPr>
          <p:cNvPr id="10" name="Rounded Rectangle 9"/>
          <p:cNvSpPr/>
          <p:nvPr/>
        </p:nvSpPr>
        <p:spPr>
          <a:xfrm>
            <a:off x="731520" y="5577840"/>
            <a:ext cx="10698480" cy="868680"/>
          </a:xfrm>
          <a:prstGeom prst="roundRect">
            <a:avLst/>
          </a:prstGeom>
          <a:solidFill>
            <a:srgbClr val="18202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650992"/>
            <a:ext cx="10424159" cy="722375"/>
          </a:xfrm>
          <a:prstGeom prst="rect">
            <a:avLst/>
          </a:prstGeom>
          <a:noFill/>
        </p:spPr>
        <p:txBody>
          <a:bodyPr wrap="square">
            <a:spAutoFit/>
          </a:bodyPr>
          <a:lstStyle/>
          <a:p>
            <a:pPr>
              <a:spcAft>
                <a:spcPts val="200"/>
              </a:spcAft>
              <a:defRPr sz="1100" b="1">
                <a:solidFill>
                  <a:srgbClr val="F59E0B"/>
                </a:solidFill>
              </a:defRPr>
            </a:pPr>
            <a:r>
              <a:t>🎯 Counter-Question: 'How would you scale this to 50 chargers and 200 EVs?'</a:t>
            </a:r>
          </a:p>
          <a:p>
            <a:pPr>
              <a:defRPr sz="950">
                <a:solidFill>
                  <a:srgbClr val="F8FAFC"/>
                </a:solidFill>
              </a:defRPr>
            </a:pPr>
            <a:r>
              <a:t>Answer: The greedy heuristic algorithm scales in O(N*C*S) polynomial time, executing 200 EVs in under 150ms. For full enterprise scale, we would partition chargers into depot clusters and deploy distributed agent instances.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10728655"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728655" cy="320040"/>
          </a:xfrm>
          <a:prstGeom prst="rect">
            <a:avLst/>
          </a:prstGeom>
          <a:noFill/>
        </p:spPr>
        <p:txBody>
          <a:bodyPr wrap="square">
            <a:spAutoFit/>
          </a:bodyPr>
          <a:lstStyle/>
          <a:p>
            <a:pPr>
              <a:defRPr sz="1000" b="1">
                <a:solidFill>
                  <a:srgbClr val="10B981"/>
                </a:solidFill>
              </a:defRPr>
            </a:pPr>
            <a:r>
              <a:t>ORAL DEFENSE PREPARATION</a:t>
            </a:r>
          </a:p>
        </p:txBody>
      </p:sp>
      <p:sp>
        <p:nvSpPr>
          <p:cNvPr id="5" name="TextBox 4"/>
          <p:cNvSpPr txBox="1"/>
          <p:nvPr/>
        </p:nvSpPr>
        <p:spPr>
          <a:xfrm>
            <a:off x="731520" y="777240"/>
            <a:ext cx="10728655" cy="685800"/>
          </a:xfrm>
          <a:prstGeom prst="rect">
            <a:avLst/>
          </a:prstGeom>
          <a:noFill/>
        </p:spPr>
        <p:txBody>
          <a:bodyPr wrap="square">
            <a:spAutoFit/>
          </a:bodyPr>
          <a:lstStyle/>
          <a:p>
            <a:pPr>
              <a:defRPr sz="2200" b="1">
                <a:solidFill>
                  <a:srgbClr val="F8FAFC"/>
                </a:solidFill>
              </a:defRPr>
            </a:pPr>
            <a:r>
              <a:t>Master Viva Counter-Questions &amp; Bulletproof Answers</a:t>
            </a:r>
          </a:p>
        </p:txBody>
      </p:sp>
      <p:sp>
        <p:nvSpPr>
          <p:cNvPr id="6" name="Rounded Rectangle 5"/>
          <p:cNvSpPr/>
          <p:nvPr/>
        </p:nvSpPr>
        <p:spPr>
          <a:xfrm>
            <a:off x="731520" y="1554480"/>
            <a:ext cx="5212080" cy="39319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91639"/>
            <a:ext cx="4846320" cy="3657600"/>
          </a:xfrm>
          <a:prstGeom prst="rect">
            <a:avLst/>
          </a:prstGeom>
          <a:noFill/>
        </p:spPr>
        <p:txBody>
          <a:bodyPr wrap="square">
            <a:spAutoFit/>
          </a:bodyPr>
          <a:lstStyle/>
          <a:p>
            <a:pPr>
              <a:spcAft>
                <a:spcPts val="600"/>
              </a:spcAft>
              <a:defRPr sz="1400" b="1">
                <a:solidFill>
                  <a:srgbClr val="F59E0B"/>
                </a:solidFill>
              </a:defRPr>
            </a:pPr>
            <a:r>
              <a:t>Questions on Agentic AI vs. Software</a:t>
            </a:r>
          </a:p>
          <a:p>
            <a:pPr>
              <a:spcAft>
                <a:spcPts val="350"/>
              </a:spcAft>
              <a:defRPr sz="1050">
                <a:solidFill>
                  <a:srgbClr val="F8FAFC"/>
                </a:solidFill>
              </a:defRPr>
            </a:pPr>
            <a:r>
              <a:t>• Q: 'Why is this Agentic AI and not just an automated script?'</a:t>
            </a:r>
          </a:p>
          <a:p>
            <a:pPr>
              <a:spcAft>
                <a:spcPts val="350"/>
              </a:spcAft>
              <a:defRPr sz="1050">
                <a:solidFill>
                  <a:srgbClr val="F8FAFC"/>
                </a:solidFill>
              </a:defRPr>
            </a:pPr>
            <a:r>
              <a:t>• A: A script executes static lines without reflection. This system has goal decomposition, dynamic policy adaptation, independent validation, and closed-loop self-healing.</a:t>
            </a:r>
          </a:p>
          <a:p>
            <a:pPr>
              <a:spcAft>
                <a:spcPts val="350"/>
              </a:spcAft>
              <a:defRPr sz="1050">
                <a:solidFill>
                  <a:srgbClr val="F8FAFC"/>
                </a:solidFill>
              </a:defRPr>
            </a:pPr>
            <a:r>
              <a:t>• Q: 'What happens if a vehicle arrives with impossible deadlines?'</a:t>
            </a:r>
          </a:p>
          <a:p>
            <a:pPr>
              <a:spcAft>
                <a:spcPts val="350"/>
              </a:spcAft>
              <a:defRPr sz="1050">
                <a:solidFill>
                  <a:srgbClr val="F8FAFC"/>
                </a:solidFill>
              </a:defRPr>
            </a:pPr>
            <a:r>
              <a:t>• A: Research Agent detects (SlotsNeeded &gt; TimeAvailable). Planner allocates maximum feasible charge and Critic logs a capacity warning.</a:t>
            </a:r>
          </a:p>
          <a:p>
            <a:pPr>
              <a:spcAft>
                <a:spcPts val="350"/>
              </a:spcAft>
              <a:defRPr sz="1050">
                <a:solidFill>
                  <a:srgbClr val="F8FAFC"/>
                </a:solidFill>
              </a:defRPr>
            </a:pPr>
            <a:r>
              <a:t>• Q: 'Can this run without Ollama or on an offline computer?'</a:t>
            </a:r>
          </a:p>
          <a:p>
            <a:pPr>
              <a:spcAft>
                <a:spcPts val="350"/>
              </a:spcAft>
              <a:defRPr sz="1050">
                <a:solidFill>
                  <a:srgbClr val="F8FAFC"/>
                </a:solidFill>
              </a:defRPr>
            </a:pPr>
            <a:r>
              <a:t>• A: Yes. The Built-in Mock Agentic Engine provides 100% offline, zero-dependency domain explanations instantly.</a:t>
            </a:r>
          </a:p>
        </p:txBody>
      </p:sp>
      <p:sp>
        <p:nvSpPr>
          <p:cNvPr id="8" name="Rounded Rectangle 7"/>
          <p:cNvSpPr/>
          <p:nvPr/>
        </p:nvSpPr>
        <p:spPr>
          <a:xfrm>
            <a:off x="6217920" y="1554480"/>
            <a:ext cx="5212080" cy="39319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91639"/>
            <a:ext cx="4846320" cy="3657600"/>
          </a:xfrm>
          <a:prstGeom prst="rect">
            <a:avLst/>
          </a:prstGeom>
          <a:noFill/>
        </p:spPr>
        <p:txBody>
          <a:bodyPr wrap="square">
            <a:spAutoFit/>
          </a:bodyPr>
          <a:lstStyle/>
          <a:p>
            <a:pPr>
              <a:spcAft>
                <a:spcPts val="600"/>
              </a:spcAft>
              <a:defRPr sz="1400" b="1">
                <a:solidFill>
                  <a:srgbClr val="38BDF8"/>
                </a:solidFill>
              </a:defRPr>
            </a:pPr>
            <a:r>
              <a:t>Questions on System Architecture &amp; Safety</a:t>
            </a:r>
          </a:p>
          <a:p>
            <a:pPr>
              <a:spcAft>
                <a:spcPts val="350"/>
              </a:spcAft>
              <a:defRPr sz="1050">
                <a:solidFill>
                  <a:srgbClr val="F8FAFC"/>
                </a:solidFill>
              </a:defRPr>
            </a:pPr>
            <a:r>
              <a:t>• Q: 'Why not use LangChain to generate the slot schedule?'</a:t>
            </a:r>
          </a:p>
          <a:p>
            <a:pPr>
              <a:spcAft>
                <a:spcPts val="350"/>
              </a:spcAft>
              <a:defRPr sz="1050">
                <a:solidFill>
                  <a:srgbClr val="F8FAFC"/>
                </a:solidFill>
              </a:defRPr>
            </a:pPr>
            <a:r>
              <a:t>• A: LLMs suffer from stochastic hallucinations and cannot guarantee zero charger overlaps. Python tools handle physics; the LLM handles explanation.</a:t>
            </a:r>
          </a:p>
          <a:p>
            <a:pPr>
              <a:spcAft>
                <a:spcPts val="350"/>
              </a:spcAft>
              <a:defRPr sz="1050">
                <a:solidFill>
                  <a:srgbClr val="F8FAFC"/>
                </a:solidFill>
              </a:defRPr>
            </a:pPr>
            <a:r>
              <a:t>• Q: 'Why are 30-minute slots used instead of 1-minute?'</a:t>
            </a:r>
          </a:p>
          <a:p>
            <a:pPr>
              <a:spcAft>
                <a:spcPts val="350"/>
              </a:spcAft>
              <a:defRPr sz="1050">
                <a:solidFill>
                  <a:srgbClr val="F8FAFC"/>
                </a:solidFill>
              </a:defRPr>
            </a:pPr>
            <a:r>
              <a:t>• A: Electric utilities settle industrial demand and Time-of-Use tariffs in 15-to-30 minute blocks. 30-min granularity matches commercial billing standards.</a:t>
            </a:r>
          </a:p>
          <a:p>
            <a:pPr>
              <a:spcAft>
                <a:spcPts val="350"/>
              </a:spcAft>
              <a:defRPr sz="1050">
                <a:solidFill>
                  <a:srgbClr val="F8FAFC"/>
                </a:solidFill>
              </a:defRPr>
            </a:pPr>
            <a:r>
              <a:t>• Q: 'What paid APIs were used in this project?'</a:t>
            </a:r>
          </a:p>
          <a:p>
            <a:pPr>
              <a:spcAft>
                <a:spcPts val="350"/>
              </a:spcAft>
              <a:defRPr sz="1050">
                <a:solidFill>
                  <a:srgbClr val="F8FAFC"/>
                </a:solidFill>
              </a:defRPr>
            </a:pPr>
            <a:r>
              <a:t>• A: None. Zero paid APIs, zero cloud credentials. Pure Python, Streamlit, local Ollama, and open-source packages.</a:t>
            </a:r>
          </a:p>
        </p:txBody>
      </p:sp>
      <p:sp>
        <p:nvSpPr>
          <p:cNvPr id="10" name="Rounded Rectangle 9"/>
          <p:cNvSpPr/>
          <p:nvPr/>
        </p:nvSpPr>
        <p:spPr>
          <a:xfrm>
            <a:off x="731520" y="5577840"/>
            <a:ext cx="10698480" cy="868680"/>
          </a:xfrm>
          <a:prstGeom prst="roundRect">
            <a:avLst/>
          </a:prstGeom>
          <a:solidFill>
            <a:srgbClr val="18202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650992"/>
            <a:ext cx="10424159" cy="722375"/>
          </a:xfrm>
          <a:prstGeom prst="rect">
            <a:avLst/>
          </a:prstGeom>
          <a:noFill/>
        </p:spPr>
        <p:txBody>
          <a:bodyPr wrap="square">
            <a:spAutoFit/>
          </a:bodyPr>
          <a:lstStyle/>
          <a:p>
            <a:pPr>
              <a:spcAft>
                <a:spcPts val="200"/>
              </a:spcAft>
              <a:defRPr sz="1100" b="1">
                <a:solidFill>
                  <a:srgbClr val="F59E0B"/>
                </a:solidFill>
              </a:defRPr>
            </a:pPr>
            <a:r>
              <a:t>🏆 The Ultimate Takeaway to Tell Your Teacher</a:t>
            </a:r>
          </a:p>
          <a:p>
            <a:pPr>
              <a:defRPr sz="950">
                <a:solidFill>
                  <a:srgbClr val="F8FAFC"/>
                </a:solidFill>
              </a:defRPr>
            </a:pPr>
            <a:r>
              <a:t>ChargeWise AI proves how specialized Agentic AI solves real-world infrastructure challenges by pairing transparent deterministic optimization with autonomous validation, reflection, and human-in-the-loop AI explanations.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10728655"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728655" cy="320040"/>
          </a:xfrm>
          <a:prstGeom prst="rect">
            <a:avLst/>
          </a:prstGeom>
          <a:noFill/>
        </p:spPr>
        <p:txBody>
          <a:bodyPr wrap="square">
            <a:spAutoFit/>
          </a:bodyPr>
          <a:lstStyle/>
          <a:p>
            <a:pPr>
              <a:defRPr sz="1000" b="1">
                <a:solidFill>
                  <a:srgbClr val="10B981"/>
                </a:solidFill>
              </a:defRPr>
            </a:pPr>
            <a:r>
              <a:t>SUMMARY &amp; WRAP-UP</a:t>
            </a:r>
          </a:p>
        </p:txBody>
      </p:sp>
      <p:sp>
        <p:nvSpPr>
          <p:cNvPr id="5" name="TextBox 4"/>
          <p:cNvSpPr txBox="1"/>
          <p:nvPr/>
        </p:nvSpPr>
        <p:spPr>
          <a:xfrm>
            <a:off x="731520" y="777240"/>
            <a:ext cx="10728655" cy="685800"/>
          </a:xfrm>
          <a:prstGeom prst="rect">
            <a:avLst/>
          </a:prstGeom>
          <a:noFill/>
        </p:spPr>
        <p:txBody>
          <a:bodyPr wrap="square">
            <a:spAutoFit/>
          </a:bodyPr>
          <a:lstStyle/>
          <a:p>
            <a:pPr>
              <a:defRPr sz="2200" b="1">
                <a:solidFill>
                  <a:srgbClr val="F8FAFC"/>
                </a:solidFill>
              </a:defRPr>
            </a:pPr>
            <a:r>
              <a:t>Conclusion &amp; Live Demonstration Protocol</a:t>
            </a:r>
          </a:p>
        </p:txBody>
      </p:sp>
      <p:sp>
        <p:nvSpPr>
          <p:cNvPr id="6" name="Rounded Rectangle 5"/>
          <p:cNvSpPr/>
          <p:nvPr/>
        </p:nvSpPr>
        <p:spPr>
          <a:xfrm>
            <a:off x="731520" y="1554480"/>
            <a:ext cx="5212080" cy="39319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91639"/>
            <a:ext cx="4846320" cy="3657600"/>
          </a:xfrm>
          <a:prstGeom prst="rect">
            <a:avLst/>
          </a:prstGeom>
          <a:noFill/>
        </p:spPr>
        <p:txBody>
          <a:bodyPr wrap="square">
            <a:spAutoFit/>
          </a:bodyPr>
          <a:lstStyle/>
          <a:p>
            <a:pPr>
              <a:spcAft>
                <a:spcPts val="600"/>
              </a:spcAft>
              <a:defRPr sz="1400" b="1">
                <a:solidFill>
                  <a:srgbClr val="10B981"/>
                </a:solidFill>
              </a:defRPr>
            </a:pPr>
            <a:r>
              <a:t>Summary of Deliverables Achieved</a:t>
            </a:r>
          </a:p>
          <a:p>
            <a:pPr>
              <a:spcAft>
                <a:spcPts val="350"/>
              </a:spcAft>
              <a:defRPr sz="1050">
                <a:solidFill>
                  <a:srgbClr val="F8FAFC"/>
                </a:solidFill>
              </a:defRPr>
            </a:pPr>
            <a:r>
              <a:t>• ✓ Domain Justification: Commercial EV fleet hub operational bottleneck.</a:t>
            </a:r>
          </a:p>
          <a:p>
            <a:pPr>
              <a:spcAft>
                <a:spcPts val="350"/>
              </a:spcAft>
              <a:defRPr sz="1050">
                <a:solidFill>
                  <a:srgbClr val="F8FAFC"/>
                </a:solidFill>
              </a:defRPr>
            </a:pPr>
            <a:r>
              <a:t>• ✓ Multi-Agent Architecture: Planner, Research, Executor, Critic, Explanation.</a:t>
            </a:r>
          </a:p>
          <a:p>
            <a:pPr>
              <a:spcAft>
                <a:spcPts val="350"/>
              </a:spcAft>
              <a:defRPr sz="1050">
                <a:solidFill>
                  <a:srgbClr val="F8FAFC"/>
                </a:solidFill>
              </a:defRPr>
            </a:pPr>
            <a:r>
              <a:t>• ✓ Working Streamlit UI PoC: Interactive telemetry editor, tariffs, and heatmaps.</a:t>
            </a:r>
          </a:p>
          <a:p>
            <a:pPr>
              <a:spcAft>
                <a:spcPts val="350"/>
              </a:spcAft>
              <a:defRPr sz="1050">
                <a:solidFill>
                  <a:srgbClr val="F8FAFC"/>
                </a:solidFill>
              </a:defRPr>
            </a:pPr>
            <a:r>
              <a:t>• ✓ Closed-Loop Self-Healing: Injected fault rejection and autonomous replanning.</a:t>
            </a:r>
          </a:p>
          <a:p>
            <a:pPr>
              <a:spcAft>
                <a:spcPts val="350"/>
              </a:spcAft>
              <a:defRPr sz="1050">
                <a:solidFill>
                  <a:srgbClr val="F8FAFC"/>
                </a:solidFill>
              </a:defRPr>
            </a:pPr>
            <a:r>
              <a:t>• ✓ Controlled Counterfactuals: Side-by-side comparison of 3 decision policies.</a:t>
            </a:r>
          </a:p>
          <a:p>
            <a:pPr>
              <a:spcAft>
                <a:spcPts val="350"/>
              </a:spcAft>
              <a:defRPr sz="1050">
                <a:solidFill>
                  <a:srgbClr val="F8FAFC"/>
                </a:solidFill>
              </a:defRPr>
            </a:pPr>
            <a:r>
              <a:t>• ✓ Verified Safety Boundary: 6 hard physical constraints audited by Critic.</a:t>
            </a:r>
          </a:p>
          <a:p>
            <a:pPr>
              <a:spcAft>
                <a:spcPts val="350"/>
              </a:spcAft>
              <a:defRPr sz="1050">
                <a:solidFill>
                  <a:srgbClr val="F8FAFC"/>
                </a:solidFill>
              </a:defRPr>
            </a:pPr>
            <a:r>
              <a:t>• ✓ Local AI Integration: LangChain + Ollama / Built-in Mock Engine (Zero Paid APIs).</a:t>
            </a:r>
          </a:p>
        </p:txBody>
      </p:sp>
      <p:sp>
        <p:nvSpPr>
          <p:cNvPr id="8" name="Rounded Rectangle 7"/>
          <p:cNvSpPr/>
          <p:nvPr/>
        </p:nvSpPr>
        <p:spPr>
          <a:xfrm>
            <a:off x="6217920" y="1554480"/>
            <a:ext cx="5212080" cy="39319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91639"/>
            <a:ext cx="4846320" cy="3657600"/>
          </a:xfrm>
          <a:prstGeom prst="rect">
            <a:avLst/>
          </a:prstGeom>
          <a:noFill/>
        </p:spPr>
        <p:txBody>
          <a:bodyPr wrap="square">
            <a:spAutoFit/>
          </a:bodyPr>
          <a:lstStyle/>
          <a:p>
            <a:pPr>
              <a:spcAft>
                <a:spcPts val="600"/>
              </a:spcAft>
              <a:defRPr sz="1400" b="1">
                <a:solidFill>
                  <a:srgbClr val="38BDF8"/>
                </a:solidFill>
              </a:defRPr>
            </a:pPr>
            <a:r>
              <a:t>Live Demonstration Protocol</a:t>
            </a:r>
          </a:p>
          <a:p>
            <a:pPr>
              <a:spcAft>
                <a:spcPts val="350"/>
              </a:spcAft>
              <a:defRPr sz="1050">
                <a:solidFill>
                  <a:srgbClr val="F8FAFC"/>
                </a:solidFill>
              </a:defRPr>
            </a:pPr>
            <a:r>
              <a:t>• 1. Ingestion: Demonstrate 10 EV requests and dynamic tariff dip at Slots 2–4.</a:t>
            </a:r>
          </a:p>
          <a:p>
            <a:pPr>
              <a:spcAft>
                <a:spcPts val="350"/>
              </a:spcAft>
              <a:defRPr sz="1050">
                <a:solidFill>
                  <a:srgbClr val="F8FAFC"/>
                </a:solidFill>
              </a:defRPr>
            </a:pPr>
            <a:r>
              <a:t>• 2. Execution: Click '▶ Run Multi-Agent Workflow' to show off-peak scheduling.</a:t>
            </a:r>
          </a:p>
          <a:p>
            <a:pPr>
              <a:spcAft>
                <a:spcPts val="350"/>
              </a:spcAft>
              <a:defRPr sz="1050">
                <a:solidFill>
                  <a:srgbClr val="F8FAFC"/>
                </a:solidFill>
              </a:defRPr>
            </a:pPr>
            <a:r>
              <a:t>• 3. Reflection: Click '🧪 Demo Rejection + Replan' to showcase Critic REJECT and autonomous Attempt 2 recovery.</a:t>
            </a:r>
          </a:p>
          <a:p>
            <a:pPr>
              <a:spcAft>
                <a:spcPts val="350"/>
              </a:spcAft>
              <a:defRPr sz="1050">
                <a:solidFill>
                  <a:srgbClr val="F8FAFC"/>
                </a:solidFill>
              </a:defRPr>
            </a:pPr>
            <a:r>
              <a:t>• 4. Trade-Offs: Click '⚖ Compare 3 Policies' to show the 20% Cost Saver savings.</a:t>
            </a:r>
          </a:p>
          <a:p>
            <a:pPr>
              <a:spcAft>
                <a:spcPts val="350"/>
              </a:spcAft>
              <a:defRPr sz="1050">
                <a:solidFill>
                  <a:srgbClr val="F8FAFC"/>
                </a:solidFill>
              </a:defRPr>
            </a:pPr>
            <a:r>
              <a:t>• 5. Local AI: Query Explanation Agent in natural language.</a:t>
            </a:r>
          </a:p>
          <a:p>
            <a:pPr>
              <a:spcAft>
                <a:spcPts val="350"/>
              </a:spcAft>
              <a:defRPr sz="1050">
                <a:solidFill>
                  <a:srgbClr val="F8FAFC"/>
                </a:solidFill>
              </a:defRPr>
            </a:pPr>
            <a:r>
              <a:t>• 6. Auditability: Inspect the numbered multi-agent activity trace and export CSV.</a:t>
            </a:r>
          </a:p>
        </p:txBody>
      </p:sp>
      <p:sp>
        <p:nvSpPr>
          <p:cNvPr id="10" name="Rounded Rectangle 9"/>
          <p:cNvSpPr/>
          <p:nvPr/>
        </p:nvSpPr>
        <p:spPr>
          <a:xfrm>
            <a:off x="731520" y="5577840"/>
            <a:ext cx="10698480" cy="868680"/>
          </a:xfrm>
          <a:prstGeom prst="roundRect">
            <a:avLst/>
          </a:prstGeom>
          <a:solidFill>
            <a:srgbClr val="18202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650992"/>
            <a:ext cx="10424159" cy="722375"/>
          </a:xfrm>
          <a:prstGeom prst="rect">
            <a:avLst/>
          </a:prstGeom>
          <a:noFill/>
        </p:spPr>
        <p:txBody>
          <a:bodyPr wrap="square">
            <a:spAutoFit/>
          </a:bodyPr>
          <a:lstStyle/>
          <a:p>
            <a:pPr>
              <a:spcAft>
                <a:spcPts val="200"/>
              </a:spcAft>
              <a:defRPr sz="1100" b="1">
                <a:solidFill>
                  <a:srgbClr val="F59E0B"/>
                </a:solidFill>
              </a:defRPr>
            </a:pPr>
            <a:r>
              <a:t>🙏 Thank You · Ready for Teacher Counter-Questions &amp; Live PoC Demo</a:t>
            </a:r>
          </a:p>
          <a:p>
            <a:pPr>
              <a:defRPr sz="950">
                <a:solidFill>
                  <a:srgbClr val="F8FAFC"/>
                </a:solidFill>
              </a:defRPr>
            </a:pPr>
            <a:r>
              <a:t>Presenters: [Student 1 Name &amp; Roll No] | [Student 2 Name &amp; Roll No] · Codebase &amp; Documentation Ready.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